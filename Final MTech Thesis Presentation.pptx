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3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Roboto" panose="020000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FFE0B22-1D73-4841-9DBC-8052B1434E5A}">
  <a:tblStyle styleId="{6FFE0B22-1D73-4841-9DBC-8052B1434E5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3544993-8F4A-4CD8-812A-E4BC788E161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64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7.fntdata"/><Relationship Id="rId20" Type="http://schemas.openxmlformats.org/officeDocument/2006/relationships/slide" Target="slides/slide1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455275258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e455275258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455275258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3e455275258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ca36948e1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eca36948e1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455275258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e455275258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455275258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e455275258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455275258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e455275258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ca36948e1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3eca36948e1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455275258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e455275258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455275258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455275258_0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455275258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e455275258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ca36948e1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eca36948e1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455275258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3e455275258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455275258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e455275258_0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455275258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e455275258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455275258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3e455275258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455275258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3e455275258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455275258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e455275258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455275258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e455275258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455275258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e455275258_0_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455275258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455275258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455275258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e455275258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455275258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e455275258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455275258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e455275258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455275258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e455275258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455275258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e455275258_0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455275258_0_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e455275258_0_6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455275258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e455275258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455275258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e455275258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e455275258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g3e455275258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e455275258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g3e455275258_0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ca36948e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g3eca36948e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ca36948e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2" name="Google Shape;502;g3eca36948e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eca36948e1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5" name="Google Shape;525;g3eca36948e1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e455275258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g3e455275258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987F89E9-4B2E-215C-9075-66E4AFF8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e455275258_0_433:notes">
            <a:extLst>
              <a:ext uri="{FF2B5EF4-FFF2-40B4-BE49-F238E27FC236}">
                <a16:creationId xmlns:a16="http://schemas.microsoft.com/office/drawing/2014/main" id="{08DA4F44-E649-7BC4-A2EC-E94AC4073B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g3e455275258_0_433:notes">
            <a:extLst>
              <a:ext uri="{FF2B5EF4-FFF2-40B4-BE49-F238E27FC236}">
                <a16:creationId xmlns:a16="http://schemas.microsoft.com/office/drawing/2014/main" id="{D417E685-2002-8035-7F31-201E303CEF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64664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5FAA92C8-B106-52F3-36C2-23BADE595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e455275258_0_433:notes">
            <a:extLst>
              <a:ext uri="{FF2B5EF4-FFF2-40B4-BE49-F238E27FC236}">
                <a16:creationId xmlns:a16="http://schemas.microsoft.com/office/drawing/2014/main" id="{89D6CDFC-89CB-6ADA-A70D-09E7E7E30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g3e455275258_0_433:notes">
            <a:extLst>
              <a:ext uri="{FF2B5EF4-FFF2-40B4-BE49-F238E27FC236}">
                <a16:creationId xmlns:a16="http://schemas.microsoft.com/office/drawing/2014/main" id="{BA9E2E1D-C1D4-1327-BCD0-D350E32D2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781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raw.org/book/control-theory/introduction-to-pid-controllers/" TargetMode="Externa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hyperlink" Target="https://docs.ros.org/en/iron/p/nav2_regulated_pure_pursuit_controller/?utm_source=chatgpt.com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doi.org/10.3389/fenrg.2021.767597" TargetMode="Externa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jp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doi.org/10.3389/fenrg.2021.767597" TargetMode="External"/><Relationship Id="rId4" Type="http://schemas.openxmlformats.org/officeDocument/2006/relationships/hyperlink" Target="https://arxiv.org/abs/2305.20026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descr="A picture containing screenshot, line, plot&#10;&#10;Description automatically generated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24" y="1277"/>
            <a:ext cx="9144000" cy="51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1041890" y="250890"/>
            <a:ext cx="6963000" cy="9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GB" sz="2700" b="1" i="0" u="none" strike="noStrike" cap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Uncertainty-Aware Trajectory Optimization and Robust Control for Grid-Based Mobile Robots</a:t>
            </a:r>
            <a:endParaRPr sz="2400" b="0" i="0" u="none" strike="noStrike" cap="none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1224389" y="1174065"/>
            <a:ext cx="66954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GB" sz="195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(In Submission for Final </a:t>
            </a:r>
            <a:r>
              <a:rPr lang="en-GB" sz="1950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M.Tech Thesis Project</a:t>
            </a:r>
            <a:r>
              <a:rPr lang="en-GB" sz="195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Evaluation)</a:t>
            </a:r>
            <a:endParaRPr sz="1950" b="0" i="1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1881571" y="1770811"/>
            <a:ext cx="53808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Presented by : </a:t>
            </a: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Pritam Ranjan Kalita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MTech Robotics Engineering (4</a:t>
            </a:r>
            <a:r>
              <a:rPr lang="en-GB" sz="1500" b="0" i="0" u="none" strike="noStrike" cap="none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Semester)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School of Advanced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439309" y="3034937"/>
            <a:ext cx="4462200" cy="10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Internal Project Supervisor:</a:t>
            </a: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Dr. Abhinav Sharma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Electrical Cluster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School of Advanced Engineering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4260984" y="3034932"/>
            <a:ext cx="4462200" cy="10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External Project Supervisor:</a:t>
            </a: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Prashant Kumar Dwivedi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Chief Executive Officer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PRD Robotech Solutions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6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450"/>
            <a:ext cx="9144000" cy="51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 txBox="1"/>
          <p:nvPr/>
        </p:nvSpPr>
        <p:spPr>
          <a:xfrm>
            <a:off x="935400" y="135850"/>
            <a:ext cx="7273200" cy="5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 i="0" u="none" strike="noStrike" cap="none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Introduction: Problem Statement Overview</a:t>
            </a:r>
            <a:endParaRPr sz="2700" b="1" i="0" u="none" strike="noStrike" cap="none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201725" y="1070200"/>
            <a:ext cx="5274600" cy="31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differential-drive robot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operates </a:t>
            </a:r>
            <a:r>
              <a:rPr lang="en-GB" sz="1600">
                <a:solidFill>
                  <a:schemeClr val="dk1"/>
                </a:solidFill>
              </a:rPr>
              <a:t>in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grid-type map</a:t>
            </a:r>
            <a:r>
              <a:rPr lang="en-GB" sz="1600" b="1">
                <a:solidFill>
                  <a:schemeClr val="dk1"/>
                </a:solidFill>
              </a:rPr>
              <a:t> </a:t>
            </a:r>
            <a:r>
              <a:rPr lang="en-GB" sz="1600">
                <a:solidFill>
                  <a:schemeClr val="dk1"/>
                </a:solidFill>
              </a:rPr>
              <a:t>within</a:t>
            </a:r>
            <a:r>
              <a:rPr lang="en-GB" sz="1600" i="0" u="none" strike="noStrike" cap="none">
                <a:solidFill>
                  <a:schemeClr val="dk1"/>
                </a:solidFill>
              </a:rPr>
              <a:t> a</a:t>
            </a:r>
            <a:r>
              <a:rPr lang="en-GB" sz="1600">
                <a:solidFill>
                  <a:schemeClr val="dk1"/>
                </a:solidFill>
              </a:rPr>
              <a:t>n </a:t>
            </a:r>
            <a:r>
              <a:rPr lang="en-GB" sz="1600" b="1">
                <a:solidFill>
                  <a:schemeClr val="dk1"/>
                </a:solidFill>
              </a:rPr>
              <a:t>indoor </a:t>
            </a:r>
            <a:r>
              <a:rPr lang="en-GB" sz="1600">
                <a:solidFill>
                  <a:schemeClr val="dk1"/>
                </a:solidFill>
              </a:rPr>
              <a:t>industrial environment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where each node is </a:t>
            </a:r>
            <a:r>
              <a:rPr lang="en-GB" sz="1600">
                <a:solidFill>
                  <a:schemeClr val="dk1"/>
                </a:solidFill>
              </a:rPr>
              <a:t>placed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600">
                <a:solidFill>
                  <a:schemeClr val="dk1"/>
                </a:solidFill>
              </a:rPr>
              <a:t>at a </a:t>
            </a:r>
            <a:r>
              <a:rPr lang="en-GB" sz="1600" b="1">
                <a:solidFill>
                  <a:schemeClr val="dk1"/>
                </a:solidFill>
              </a:rPr>
              <a:t>fixed </a:t>
            </a:r>
            <a:r>
              <a:rPr lang="en-GB" sz="1600">
                <a:solidFill>
                  <a:schemeClr val="dk1"/>
                </a:solidFill>
              </a:rPr>
              <a:t>distance</a:t>
            </a:r>
            <a:r>
              <a:rPr lang="en-GB" sz="1600" b="1">
                <a:solidFill>
                  <a:schemeClr val="dk1"/>
                </a:solidFill>
              </a:rPr>
              <a:t> </a:t>
            </a:r>
            <a:r>
              <a:rPr lang="en-GB" sz="1600">
                <a:solidFill>
                  <a:schemeClr val="dk1"/>
                </a:solidFill>
              </a:rPr>
              <a:t>apart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each other. There are 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obstacles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map.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robot is required to navigate the planned path provided by the 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4-way A*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algorithm, following a 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stop–rotate–move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execution strategy (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in-place 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rotations allowed only).</a:t>
            </a:r>
            <a:endParaRPr sz="17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0450" y="3461675"/>
            <a:ext cx="327750" cy="42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6"/>
          <p:cNvGrpSpPr/>
          <p:nvPr/>
        </p:nvGrpSpPr>
        <p:grpSpPr>
          <a:xfrm>
            <a:off x="5635525" y="866438"/>
            <a:ext cx="3175100" cy="3410625"/>
            <a:chOff x="5635525" y="773275"/>
            <a:chExt cx="3175100" cy="3410625"/>
          </a:xfrm>
        </p:grpSpPr>
        <p:pic>
          <p:nvPicPr>
            <p:cNvPr id="114" name="Google Shape;114;p2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35525" y="773275"/>
              <a:ext cx="3175100" cy="3211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26"/>
            <p:cNvSpPr txBox="1"/>
            <p:nvPr/>
          </p:nvSpPr>
          <p:spPr>
            <a:xfrm>
              <a:off x="5656025" y="3886900"/>
              <a:ext cx="3134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GB" sz="900" b="1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Figure 1 : Working Environment (Map) of the Robot  </a:t>
              </a:r>
              <a:endParaRPr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" name="Google Shape;124;p27">
            <a:extLst>
              <a:ext uri="{FF2B5EF4-FFF2-40B4-BE49-F238E27FC236}">
                <a16:creationId xmlns:a16="http://schemas.microsoft.com/office/drawing/2014/main" id="{6923E341-9B3A-F028-7F56-905B303BF1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9014" y="3614075"/>
            <a:ext cx="327750" cy="42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7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450"/>
            <a:ext cx="9144000" cy="51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935400" y="135850"/>
            <a:ext cx="7273200" cy="5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 i="0" u="none" strike="noStrike" cap="none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Introduction: Problem Statement Overview</a:t>
            </a:r>
            <a:endParaRPr sz="2700" b="1" i="0" u="none" strike="noStrike" cap="none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259150" y="773275"/>
            <a:ext cx="52746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b="1">
                <a:solidFill>
                  <a:schemeClr val="dk1"/>
                </a:solidFill>
              </a:rPr>
              <a:t>QR codes</a:t>
            </a:r>
            <a:r>
              <a:rPr lang="en-GB" sz="1600">
                <a:solidFill>
                  <a:schemeClr val="dk1"/>
                </a:solidFill>
              </a:rPr>
              <a:t> are placed at each of the nodes. They inform the robot of its ground truth position on the map.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Pose estimation</a:t>
            </a: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relies on </a:t>
            </a:r>
            <a:r>
              <a:rPr lang="en-GB" sz="16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noisy</a:t>
            </a: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6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odometry</a:t>
            </a: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GB" sz="16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IMU</a:t>
            </a: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and sparse </a:t>
            </a:r>
            <a:r>
              <a:rPr lang="en-GB" sz="16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corrections</a:t>
            </a: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→ uncertainty grows between two QR corrections.</a:t>
            </a:r>
            <a:endParaRPr sz="1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 of this work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to </a:t>
            </a:r>
            <a:r>
              <a:rPr lang="en-GB" sz="16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achieve </a:t>
            </a:r>
            <a:r>
              <a:rPr lang="en-GB" sz="16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accurate trajectory tracking with minimal tracking error</a:t>
            </a:r>
            <a:r>
              <a:rPr lang="en-GB" sz="16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6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moving between the nodes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35525" y="773275"/>
            <a:ext cx="3175100" cy="32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0450" y="3461675"/>
            <a:ext cx="327750" cy="42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7"/>
          <p:cNvSpPr txBox="1"/>
          <p:nvPr/>
        </p:nvSpPr>
        <p:spPr>
          <a:xfrm>
            <a:off x="5656025" y="3886900"/>
            <a:ext cx="31341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 : Working Environment (Map) of the Robot  </a:t>
            </a:r>
            <a:endParaRPr sz="900" b="1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8"/>
          <p:cNvSpPr txBox="1"/>
          <p:nvPr/>
        </p:nvSpPr>
        <p:spPr>
          <a:xfrm>
            <a:off x="680100" y="40182"/>
            <a:ext cx="77838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 i="0" u="none" strike="noStrike" cap="none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700" b="1" i="0" u="none" strike="noStrike" cap="none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8"/>
          <p:cNvSpPr/>
          <p:nvPr/>
        </p:nvSpPr>
        <p:spPr>
          <a:xfrm>
            <a:off x="358775" y="4353175"/>
            <a:ext cx="8785200" cy="79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8"/>
          <p:cNvSpPr/>
          <p:nvPr/>
        </p:nvSpPr>
        <p:spPr>
          <a:xfrm>
            <a:off x="5306900" y="2448600"/>
            <a:ext cx="473700" cy="1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8"/>
          <p:cNvSpPr/>
          <p:nvPr/>
        </p:nvSpPr>
        <p:spPr>
          <a:xfrm>
            <a:off x="6986125" y="3089900"/>
            <a:ext cx="698400" cy="32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5" name="Google Shape;135;p28"/>
          <p:cNvGraphicFramePr/>
          <p:nvPr/>
        </p:nvGraphicFramePr>
        <p:xfrm>
          <a:off x="474984" y="846400"/>
          <a:ext cx="8285675" cy="4247079"/>
        </p:xfrm>
        <a:graphic>
          <a:graphicData uri="http://schemas.openxmlformats.org/drawingml/2006/table">
            <a:tbl>
              <a:tblPr>
                <a:noFill/>
                <a:tableStyleId>{6FFE0B22-1D73-4841-9DBC-8052B1434E5A}</a:tableStyleId>
              </a:tblPr>
              <a:tblGrid>
                <a:gridCol w="43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b="1" u="none" strike="noStrike" cap="none"/>
                        <a:t>Sl.No</a:t>
                      </a:r>
                      <a:endParaRPr sz="1300" b="1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b="1" u="none" strike="noStrike" cap="none"/>
                        <a:t>Title</a:t>
                      </a:r>
                      <a:endParaRPr sz="1300" b="1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b="1" u="none" strike="noStrike" cap="none"/>
                        <a:t>Study &amp; Findings</a:t>
                      </a:r>
                      <a:endParaRPr sz="1300" b="1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strike="noStrike" cap="none"/>
                        <a:t>1</a:t>
                      </a:r>
                      <a:endParaRPr sz="15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Implementation of the Pure Pursuit Path Tracking Algorithm (1992)</a:t>
                      </a:r>
                      <a:endParaRPr sz="1500" b="1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study is the foundational work that introduces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the Pure Pursuit path-tracking algorithm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for autonomous ground vehicles.</a:t>
                      </a:r>
                      <a:endParaRPr sz="1500" b="1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strike="noStrike" cap="none"/>
                        <a:t>2</a:t>
                      </a:r>
                      <a:endParaRPr sz="15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Adaptive Pure Pursuit Model for Autonomous Vehicle Path Tracking (2017)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1" marR="0" lvl="0" indent="-256201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Instead of using a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 lookahead distance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the algorithm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adjusts the lookahead distance dynamically based on vehicle speed.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60001" marR="0" lvl="0" indent="-256201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Adaptive lookahead distance improves path tracking accuracy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compared to standard Pure Pursuit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strike="noStrike" cap="none"/>
                        <a:t>3</a:t>
                      </a:r>
                      <a:endParaRPr sz="15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Regulated Pure Pursuit for Robot Path Tracking (2023)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1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This paper introduces the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Regulated Pure Pursuit (RPP)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controller. 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60001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extends the traditional Pure Pursuit algorithm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by introducing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velocity regulation mechanism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that consider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path curvature 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proximity to obstacles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60001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goal is to make Pure Pursuit suitable for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industrial service robots operating in constrained environments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60001" marR="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Successfully deployed on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industrial service robot using ROS2 Nav2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6" name="Google Shape;136;p28"/>
          <p:cNvSpPr txBox="1"/>
          <p:nvPr/>
        </p:nvSpPr>
        <p:spPr>
          <a:xfrm>
            <a:off x="306963" y="520775"/>
            <a:ext cx="86217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b="1" i="1" dirty="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Table 1: Summary of Important Research Papers found during Literature Survey</a:t>
            </a:r>
            <a:endParaRPr sz="1000" b="1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9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9"/>
          <p:cNvSpPr txBox="1"/>
          <p:nvPr/>
        </p:nvSpPr>
        <p:spPr>
          <a:xfrm>
            <a:off x="680100" y="52424"/>
            <a:ext cx="77838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 i="0" u="none" strike="noStrike" cap="none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700" b="1" i="0" u="none" strike="noStrike" cap="none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9"/>
          <p:cNvSpPr/>
          <p:nvPr/>
        </p:nvSpPr>
        <p:spPr>
          <a:xfrm>
            <a:off x="5306900" y="2448600"/>
            <a:ext cx="473700" cy="1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9"/>
          <p:cNvSpPr/>
          <p:nvPr/>
        </p:nvSpPr>
        <p:spPr>
          <a:xfrm>
            <a:off x="6986125" y="3089900"/>
            <a:ext cx="698400" cy="32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9"/>
          <p:cNvSpPr/>
          <p:nvPr/>
        </p:nvSpPr>
        <p:spPr>
          <a:xfrm>
            <a:off x="358775" y="4353175"/>
            <a:ext cx="8785200" cy="79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6" name="Google Shape;146;p29"/>
          <p:cNvGraphicFramePr/>
          <p:nvPr/>
        </p:nvGraphicFramePr>
        <p:xfrm>
          <a:off x="455440" y="699012"/>
          <a:ext cx="8365900" cy="3939738"/>
        </p:xfrm>
        <a:graphic>
          <a:graphicData uri="http://schemas.openxmlformats.org/drawingml/2006/table">
            <a:tbl>
              <a:tblPr>
                <a:noFill/>
                <a:tableStyleId>{6FFE0B22-1D73-4841-9DBC-8052B1434E5A}</a:tableStyleId>
              </a:tblPr>
              <a:tblGrid>
                <a:gridCol w="46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b="1" u="none" strike="noStrike" cap="none"/>
                        <a:t>Sl.No</a:t>
                      </a:r>
                      <a:endParaRPr sz="1300" b="1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b="1" u="none" strike="noStrike" cap="none"/>
                        <a:t>Title</a:t>
                      </a:r>
                      <a:endParaRPr sz="1300" b="1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b="1" u="none" strike="noStrike" cap="none"/>
                        <a:t>Study &amp; Findings</a:t>
                      </a:r>
                      <a:endParaRPr sz="1300" b="1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strike="noStrike" cap="none"/>
                        <a:t>4</a:t>
                      </a:r>
                      <a:endParaRPr sz="15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Vehicle Path Tracking Control Using Pure Pursuit With MPC-Based Look-Ahead Distance Optimization (2024)</a:t>
                      </a:r>
                      <a:endParaRPr sz="15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paper proposes a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modified Pure Pursuit controller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where: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lookahead distance 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 treated as a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variable 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instead of a fixed or velocity-based parameter.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Predictive Control (MPC)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framework is formulated to: Predict future vehicle motion +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Optimize lookahead distance over a prediction horizon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strike="noStrike" cap="none"/>
                        <a:t>5</a:t>
                      </a:r>
                      <a:endParaRPr sz="15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Stochastic Time-Varying Model Predictive Control for Trajectory Tracking of a Wheeled Mobile Robot (2021)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Proposes a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</a:rPr>
                        <a:t>stochastic MPC-based trajectory tracking controller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 considering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</a:rPr>
                        <a:t>state uncertainty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.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Models robot state with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</a:rPr>
                        <a:t>mean and covariance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 and uses prediction to handle uncertainty.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Achieves </a:t>
                      </a: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</a:rPr>
                        <a:t>better tracking accuracy and robustness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 under disturbances compared to conventional MPC.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strike="noStrike" cap="none"/>
                        <a:t>6</a:t>
                      </a:r>
                      <a:endParaRPr sz="15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Stochastic Model Predictive Control 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2017</a:t>
                      </a: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</a:rPr>
                        <a:t>)</a:t>
                      </a:r>
                      <a:endParaRPr sz="15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GB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Foundational reference for SMPC theory; no experimental results.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marR="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-GB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Explains how SMPC uses statistical models of uncertainties to guarantee constraint satisfaction. 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0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0"/>
          <p:cNvSpPr txBox="1"/>
          <p:nvPr/>
        </p:nvSpPr>
        <p:spPr>
          <a:xfrm>
            <a:off x="680100" y="-41136"/>
            <a:ext cx="77838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 i="0" u="none" strike="noStrike" cap="none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Gaps</a:t>
            </a:r>
            <a:endParaRPr sz="2700" b="1" i="0" u="none" strike="noStrike" cap="none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30"/>
          <p:cNvSpPr/>
          <p:nvPr/>
        </p:nvSpPr>
        <p:spPr>
          <a:xfrm>
            <a:off x="358775" y="4353175"/>
            <a:ext cx="8785200" cy="79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0"/>
          <p:cNvSpPr/>
          <p:nvPr/>
        </p:nvSpPr>
        <p:spPr>
          <a:xfrm>
            <a:off x="5306900" y="2448600"/>
            <a:ext cx="473700" cy="1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0"/>
          <p:cNvSpPr/>
          <p:nvPr/>
        </p:nvSpPr>
        <p:spPr>
          <a:xfrm>
            <a:off x="6986125" y="3089900"/>
            <a:ext cx="698400" cy="32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0"/>
          <p:cNvSpPr txBox="1"/>
          <p:nvPr/>
        </p:nvSpPr>
        <p:spPr>
          <a:xfrm>
            <a:off x="141832" y="544425"/>
            <a:ext cx="5455500" cy="4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001" marR="0" lvl="0" indent="-1916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Regulated Pure Pursuit Controller 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(Macenski et al., 2023) which is a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popular choice 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trajectory tracking control 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commercial wheeled mobile robots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6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heavily dependent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its </a:t>
            </a:r>
            <a:r>
              <a:rPr lang="en-GB" sz="16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lookahead distance parameter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controller sets this parameter based on the 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velocity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robot [3]. However,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does not consider the </a:t>
            </a:r>
            <a:r>
              <a:rPr lang="en-GB" sz="1600" b="1">
                <a:solidFill>
                  <a:schemeClr val="dk1"/>
                </a:solidFill>
              </a:rPr>
              <a:t>position and orientation errors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robot w.r.t the reference path while setting this parameter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This gives rise to the following problem – </a:t>
            </a: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Trade-off between stability and tracking accuracy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Lookahead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Higher Sensitivity to Path Tracking Error – Results in increased “jerky” motion.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Lookahead 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Higher Motion Stability – slower path convergence.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30"/>
          <p:cNvGrpSpPr/>
          <p:nvPr/>
        </p:nvGrpSpPr>
        <p:grpSpPr>
          <a:xfrm>
            <a:off x="5476837" y="3021740"/>
            <a:ext cx="3561078" cy="2121935"/>
            <a:chOff x="873800" y="2055750"/>
            <a:chExt cx="4082400" cy="2900800"/>
          </a:xfrm>
        </p:grpSpPr>
        <p:pic>
          <p:nvPicPr>
            <p:cNvPr id="158" name="Google Shape;158;p3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10508" y="2055750"/>
              <a:ext cx="3608975" cy="2263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30"/>
            <p:cNvSpPr txBox="1"/>
            <p:nvPr/>
          </p:nvSpPr>
          <p:spPr>
            <a:xfrm>
              <a:off x="873800" y="4241350"/>
              <a:ext cx="4082400" cy="71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850" tIns="66850" rIns="66850" bIns="66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8"/>
                <a:buFont typeface="Arial"/>
                <a:buNone/>
              </a:pPr>
              <a:r>
                <a:rPr lang="en-GB" sz="658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Figure 3: Illustration of the Pure Pursuit controller showing the robot tracking a lookahead point along the reference path to compute steering commands. Source: MathWorks, </a:t>
              </a:r>
              <a:r>
                <a:rPr lang="en-GB" sz="658" b="1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Pure Pursuit Controller Documentation</a:t>
              </a:r>
              <a:r>
                <a:rPr lang="en-GB" sz="658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65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30"/>
          <p:cNvSpPr txBox="1"/>
          <p:nvPr/>
        </p:nvSpPr>
        <p:spPr>
          <a:xfrm>
            <a:off x="5780613" y="2253531"/>
            <a:ext cx="3112226" cy="653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00" tIns="71200" rIns="71200" bIns="712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1"/>
              <a:buFont typeface="Arial"/>
              <a:buNone/>
            </a:pPr>
            <a:r>
              <a:rPr lang="en-GB" sz="701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 : Illustration of the Pure Pursuit path tracking algorithm, where the robot continuously follows a lookahead point along the reference path. Source: https://user-images.githubusercontent.com/14944147/102563918-3cd49d80-408f-11eb-8e03-b472815a05d8.gif</a:t>
            </a:r>
            <a:endParaRPr sz="701" b="1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1"/>
              <a:buFont typeface="Arial"/>
              <a:buNone/>
            </a:pPr>
            <a:endParaRPr sz="701" b="1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30" title="rpp_demo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0622" y="177425"/>
            <a:ext cx="3112225" cy="21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1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1"/>
          <p:cNvSpPr txBox="1"/>
          <p:nvPr/>
        </p:nvSpPr>
        <p:spPr>
          <a:xfrm>
            <a:off x="680100" y="-41136"/>
            <a:ext cx="77838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 i="0" u="none" strike="noStrike" cap="none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Gaps</a:t>
            </a:r>
            <a:endParaRPr sz="2700" b="1" i="0" u="none" strike="noStrike" cap="none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31"/>
          <p:cNvSpPr/>
          <p:nvPr/>
        </p:nvSpPr>
        <p:spPr>
          <a:xfrm>
            <a:off x="358775" y="4353175"/>
            <a:ext cx="8785200" cy="79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1"/>
          <p:cNvSpPr/>
          <p:nvPr/>
        </p:nvSpPr>
        <p:spPr>
          <a:xfrm>
            <a:off x="5306900" y="2448600"/>
            <a:ext cx="473700" cy="1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1"/>
          <p:cNvSpPr/>
          <p:nvPr/>
        </p:nvSpPr>
        <p:spPr>
          <a:xfrm>
            <a:off x="6986125" y="3089900"/>
            <a:ext cx="698400" cy="32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1"/>
          <p:cNvSpPr txBox="1"/>
          <p:nvPr/>
        </p:nvSpPr>
        <p:spPr>
          <a:xfrm>
            <a:off x="287125" y="503400"/>
            <a:ext cx="5359500" cy="4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</a:endParaRPr>
          </a:p>
          <a:p>
            <a:pPr marL="360001" marR="0" lvl="0" indent="-1916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 startAt="2"/>
            </a:pPr>
            <a:r>
              <a:rPr lang="en-GB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RPP controller assumes that the robot state [x, y, theta] is perfectly known any point in time and does not accommodate for state estimation uncertainties that may arise due to any kind of unknown/unforeseen disturbances</a:t>
            </a:r>
            <a:r>
              <a:rPr lang="en-GB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(e.g., wheel slip, actuator slip, friction, terrain) that the robot might face during its trajectory execution in real-world – which ultimately increases the Path Tracking Error in real working conditions.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31"/>
          <p:cNvGrpSpPr/>
          <p:nvPr/>
        </p:nvGrpSpPr>
        <p:grpSpPr>
          <a:xfrm>
            <a:off x="5476837" y="3021740"/>
            <a:ext cx="3561078" cy="2121935"/>
            <a:chOff x="873800" y="2055750"/>
            <a:chExt cx="4082400" cy="2900800"/>
          </a:xfrm>
        </p:grpSpPr>
        <p:pic>
          <p:nvPicPr>
            <p:cNvPr id="173" name="Google Shape;173;p3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10508" y="2055750"/>
              <a:ext cx="3608975" cy="2263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31"/>
            <p:cNvSpPr txBox="1"/>
            <p:nvPr/>
          </p:nvSpPr>
          <p:spPr>
            <a:xfrm>
              <a:off x="873800" y="4241350"/>
              <a:ext cx="4082400" cy="71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850" tIns="66850" rIns="66850" bIns="66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8"/>
                <a:buFont typeface="Arial"/>
                <a:buNone/>
              </a:pPr>
              <a:r>
                <a:rPr lang="en-GB" sz="658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Figure 3: Illustration of the Pure Pursuit controller showing the robot tracking a lookahead point along the reference path to compute steering commands. Source: MathWorks, </a:t>
              </a:r>
              <a:r>
                <a:rPr lang="en-GB" sz="658" b="1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Pure Pursuit Controller Documentation</a:t>
              </a:r>
              <a:r>
                <a:rPr lang="en-GB" sz="658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65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31"/>
          <p:cNvSpPr txBox="1"/>
          <p:nvPr/>
        </p:nvSpPr>
        <p:spPr>
          <a:xfrm>
            <a:off x="5780613" y="2253531"/>
            <a:ext cx="3112200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00" tIns="71200" rIns="71200" bIns="712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1"/>
              <a:buFont typeface="Arial"/>
              <a:buNone/>
            </a:pPr>
            <a:r>
              <a:rPr lang="en-GB" sz="701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 : Illustration of the Pure Pursuit path tracking algorithm, where the robot continuously follows a lookahead point along the reference path. Source: https://user-images.githubusercontent.com/14944147/102563918-3cd49d80-408f-11eb-8e03-b472815a05d8.gif</a:t>
            </a:r>
            <a:endParaRPr sz="701" b="1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1"/>
              <a:buFont typeface="Arial"/>
              <a:buNone/>
            </a:pPr>
            <a:endParaRPr sz="701" b="1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31" title="rpp_demo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0622" y="177425"/>
            <a:ext cx="3112225" cy="21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83" name="Google Shape;183;p32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2"/>
          <p:cNvSpPr txBox="1"/>
          <p:nvPr/>
        </p:nvSpPr>
        <p:spPr>
          <a:xfrm>
            <a:off x="680100" y="59127"/>
            <a:ext cx="77838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 i="0" u="none" strike="noStrike" cap="none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Objectives</a:t>
            </a:r>
            <a:endParaRPr sz="2700" b="1" i="0" u="none" strike="noStrike" cap="none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32"/>
          <p:cNvSpPr txBox="1"/>
          <p:nvPr/>
        </p:nvSpPr>
        <p:spPr>
          <a:xfrm>
            <a:off x="513875" y="809900"/>
            <a:ext cx="8318400" cy="31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lang="en-GB" sz="1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-GB" sz="1900" dirty="0">
                <a:solidFill>
                  <a:schemeClr val="dk1"/>
                </a:solidFill>
              </a:rPr>
              <a:t>propose an </a:t>
            </a:r>
            <a:r>
              <a:rPr lang="en-GB" sz="1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improved </a:t>
            </a:r>
            <a:r>
              <a:rPr lang="en-GB" sz="1900" dirty="0">
                <a:solidFill>
                  <a:schemeClr val="dk1"/>
                </a:solidFill>
              </a:rPr>
              <a:t>control strategy that gives better</a:t>
            </a:r>
            <a:r>
              <a:rPr lang="en-GB" sz="1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Tracking Accuracy</a:t>
            </a:r>
            <a:r>
              <a:rPr lang="en-GB" sz="1900" dirty="0">
                <a:solidFill>
                  <a:schemeClr val="dk1"/>
                </a:solidFill>
              </a:rPr>
              <a:t> </a:t>
            </a:r>
            <a:r>
              <a:rPr lang="en-GB" sz="1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comparison to the baseline (RPP) while also keeping the robot’s motion smooth </a:t>
            </a:r>
            <a:r>
              <a:rPr lang="en-GB" sz="19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</a:t>
            </a:r>
            <a:r>
              <a:rPr lang="en-GB" sz="1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less jerky motion.</a:t>
            </a:r>
            <a:endParaRPr sz="1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lang="en-GB" sz="1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make the proposed controller </a:t>
            </a:r>
            <a:r>
              <a:rPr lang="en-GB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robust towards robot state uncertainties </a:t>
            </a:r>
            <a:r>
              <a:rPr lang="en-GB" sz="1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arising due to external real-world disturbances.</a:t>
            </a:r>
            <a:endParaRPr sz="1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3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450"/>
            <a:ext cx="9144000" cy="51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3"/>
          <p:cNvSpPr txBox="1"/>
          <p:nvPr/>
        </p:nvSpPr>
        <p:spPr>
          <a:xfrm>
            <a:off x="1614146" y="2008338"/>
            <a:ext cx="5915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I : The Baseline Model </a:t>
            </a:r>
            <a:endParaRPr sz="2700" b="1" i="0" u="none" strike="noStrike" cap="none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1614146" y="26663"/>
            <a:ext cx="5915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 i="0" u="none" strike="noStrike" cap="none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700" b="1" i="0" u="none" strike="noStrike" cap="none" dirty="0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4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450"/>
            <a:ext cx="9144000" cy="514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34"/>
          <p:cNvCxnSpPr/>
          <p:nvPr/>
        </p:nvCxnSpPr>
        <p:spPr>
          <a:xfrm rot="10800000">
            <a:off x="8380475" y="1572200"/>
            <a:ext cx="0" cy="1628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9" name="Google Shape;199;p34"/>
          <p:cNvSpPr txBox="1"/>
          <p:nvPr/>
        </p:nvSpPr>
        <p:spPr>
          <a:xfrm rot="-5400000">
            <a:off x="7786425" y="2278850"/>
            <a:ext cx="7578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RPP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34"/>
          <p:cNvCxnSpPr/>
          <p:nvPr/>
        </p:nvCxnSpPr>
        <p:spPr>
          <a:xfrm flipH="1">
            <a:off x="6506200" y="848925"/>
            <a:ext cx="1239300" cy="63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2" name="Google Shape;202;p34"/>
          <p:cNvGrpSpPr/>
          <p:nvPr/>
        </p:nvGrpSpPr>
        <p:grpSpPr>
          <a:xfrm>
            <a:off x="197375" y="554550"/>
            <a:ext cx="5299500" cy="4012775"/>
            <a:chOff x="197375" y="826263"/>
            <a:chExt cx="5299500" cy="4012775"/>
          </a:xfrm>
        </p:grpSpPr>
        <p:sp>
          <p:nvSpPr>
            <p:cNvPr id="203" name="Google Shape;203;p34"/>
            <p:cNvSpPr txBox="1"/>
            <p:nvPr/>
          </p:nvSpPr>
          <p:spPr>
            <a:xfrm>
              <a:off x="197375" y="1244438"/>
              <a:ext cx="5299500" cy="35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21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Char char="●"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complete project has been implemented using the </a:t>
              </a:r>
              <a:r>
                <a:rPr lang="en-GB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Robot Operating System 2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Framework.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30200" algn="l" rtl="0">
                <a:lnSpc>
                  <a:spcPct val="121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Char char="●"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</a:t>
              </a:r>
              <a:r>
                <a:rPr lang="en-GB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trajectory tracking system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is implemented using a </a:t>
              </a:r>
              <a:r>
                <a:rPr lang="en-GB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hybrid control strategy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combining </a:t>
              </a:r>
              <a:r>
                <a:rPr lang="en-GB" sz="1600" b="1" i="0" u="none" strike="noStrike" cap="none">
                  <a:solidFill>
                    <a:schemeClr val="dk1"/>
                  </a:solidFill>
                </a:rPr>
                <a:t>two different controllers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600">
                <a:solidFill>
                  <a:schemeClr val="dk1"/>
                </a:solidFill>
              </a:endParaRPr>
            </a:p>
            <a:p>
              <a:pPr marL="457200" marR="0" lvl="0" indent="-330200" algn="l" rtl="0">
                <a:lnSpc>
                  <a:spcPct val="121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Char char="●"/>
              </a:pPr>
              <a:r>
                <a:rPr lang="en-GB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Straight path segments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are tracked using the </a:t>
              </a:r>
              <a:r>
                <a:rPr lang="en-GB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Regulated Pure Pursuit (RPP)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controller, which computes velocity commands based on the </a:t>
              </a:r>
              <a:r>
                <a:rPr lang="en-GB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lookahead distance. </a:t>
              </a:r>
              <a:r>
                <a:rPr lang="en-GB" sz="1600" b="1" i="0" u="none" strike="noStrike" cap="none">
                  <a:solidFill>
                    <a:srgbClr val="1155CC"/>
                  </a:solidFill>
                  <a:latin typeface="Arial"/>
                  <a:ea typeface="Arial"/>
                  <a:cs typeface="Arial"/>
                  <a:sym typeface="Arial"/>
                </a:rPr>
                <a:t>Replacing the RPP controller with a better improved version is the primary focus of this study.</a:t>
              </a:r>
              <a:endPara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4"/>
            <p:cNvSpPr txBox="1"/>
            <p:nvPr/>
          </p:nvSpPr>
          <p:spPr>
            <a:xfrm>
              <a:off x="293175" y="826263"/>
              <a:ext cx="4331400" cy="42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1.1. The Baseline Model Overview</a:t>
              </a:r>
              <a:endParaRPr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p34"/>
          <p:cNvGrpSpPr/>
          <p:nvPr/>
        </p:nvGrpSpPr>
        <p:grpSpPr>
          <a:xfrm>
            <a:off x="5635525" y="377700"/>
            <a:ext cx="3477225" cy="3990957"/>
            <a:chOff x="5635525" y="377700"/>
            <a:chExt cx="3477225" cy="3990957"/>
          </a:xfrm>
        </p:grpSpPr>
        <p:pic>
          <p:nvPicPr>
            <p:cNvPr id="206" name="Google Shape;206;p3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35525" y="773275"/>
              <a:ext cx="3175100" cy="3211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3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380450" y="3461675"/>
              <a:ext cx="327750" cy="425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34"/>
            <p:cNvSpPr txBox="1"/>
            <p:nvPr/>
          </p:nvSpPr>
          <p:spPr>
            <a:xfrm>
              <a:off x="5656025" y="3943557"/>
              <a:ext cx="3134100" cy="42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GB" sz="900" b="1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Figure 4 : Different controllers used in the Baseline Model for controlling the Robot</a:t>
              </a:r>
              <a:endParaRPr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4"/>
            <p:cNvSpPr txBox="1"/>
            <p:nvPr/>
          </p:nvSpPr>
          <p:spPr>
            <a:xfrm>
              <a:off x="6803250" y="428900"/>
              <a:ext cx="757800" cy="34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RPP</a:t>
              </a:r>
              <a:endParaRPr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4"/>
            <p:cNvSpPr/>
            <p:nvPr/>
          </p:nvSpPr>
          <p:spPr>
            <a:xfrm rot="5400000">
              <a:off x="8414350" y="811075"/>
              <a:ext cx="639000" cy="563400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4"/>
            <p:cNvSpPr txBox="1"/>
            <p:nvPr/>
          </p:nvSpPr>
          <p:spPr>
            <a:xfrm>
              <a:off x="8354950" y="377700"/>
              <a:ext cx="757800" cy="34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E69138"/>
                  </a:solidFill>
                  <a:latin typeface="Arial"/>
                  <a:ea typeface="Arial"/>
                  <a:cs typeface="Arial"/>
                  <a:sym typeface="Arial"/>
                </a:rPr>
                <a:t>PID</a:t>
              </a:r>
              <a:endParaRPr sz="1800" b="1" i="0" u="none" strike="noStrike" cap="non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5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450"/>
            <a:ext cx="9144000" cy="514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35"/>
          <p:cNvCxnSpPr/>
          <p:nvPr/>
        </p:nvCxnSpPr>
        <p:spPr>
          <a:xfrm rot="10800000">
            <a:off x="8380475" y="1572200"/>
            <a:ext cx="0" cy="1628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8" name="Google Shape;218;p35"/>
          <p:cNvSpPr txBox="1"/>
          <p:nvPr/>
        </p:nvSpPr>
        <p:spPr>
          <a:xfrm rot="-5400000">
            <a:off x="7786425" y="2278850"/>
            <a:ext cx="7578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RPP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35"/>
          <p:cNvCxnSpPr/>
          <p:nvPr/>
        </p:nvCxnSpPr>
        <p:spPr>
          <a:xfrm flipH="1">
            <a:off x="6506200" y="848925"/>
            <a:ext cx="1239300" cy="63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21" name="Google Shape;221;p35"/>
          <p:cNvGrpSpPr/>
          <p:nvPr/>
        </p:nvGrpSpPr>
        <p:grpSpPr>
          <a:xfrm>
            <a:off x="197375" y="554550"/>
            <a:ext cx="5299500" cy="4012775"/>
            <a:chOff x="197375" y="826263"/>
            <a:chExt cx="5299500" cy="4012775"/>
          </a:xfrm>
        </p:grpSpPr>
        <p:sp>
          <p:nvSpPr>
            <p:cNvPr id="222" name="Google Shape;222;p35"/>
            <p:cNvSpPr txBox="1"/>
            <p:nvPr/>
          </p:nvSpPr>
          <p:spPr>
            <a:xfrm>
              <a:off x="197375" y="1244438"/>
              <a:ext cx="5299500" cy="35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0" algn="l" rtl="0">
                <a:lnSpc>
                  <a:spcPct val="12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</a:endParaRPr>
            </a:p>
            <a:p>
              <a:pPr marL="457200" marR="0" lvl="0" indent="-330200" algn="l" rtl="0">
                <a:lnSpc>
                  <a:spcPct val="121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Char char="●"/>
              </a:pPr>
              <a:r>
                <a:rPr lang="en-GB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90° </a:t>
              </a:r>
              <a:r>
                <a:rPr lang="en-GB" sz="1600" b="1">
                  <a:solidFill>
                    <a:schemeClr val="dk1"/>
                  </a:solidFill>
                </a:rPr>
                <a:t>In-place rotation</a:t>
              </a:r>
              <a:r>
                <a:rPr lang="en-GB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1600" i="0" u="none" strike="noStrike" cap="none">
                  <a:solidFill>
                    <a:schemeClr val="dk1"/>
                  </a:solidFill>
                </a:rPr>
                <a:t>at grid nodes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are handled separately using a </a:t>
              </a:r>
              <a:r>
                <a:rPr lang="en-GB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PID controller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 enabling </a:t>
              </a:r>
              <a:r>
                <a:rPr lang="en-GB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in-place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rotation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before proceeding to the next segment.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30200" algn="l" rtl="0">
                <a:lnSpc>
                  <a:spcPct val="121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Char char="●"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Overall motion follows a </a:t>
              </a:r>
              <a:r>
                <a:rPr lang="en-GB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discrete execution pattern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b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16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Stop → Rotate → Move Straight → Stop → Rotate → …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5"/>
            <p:cNvSpPr txBox="1"/>
            <p:nvPr/>
          </p:nvSpPr>
          <p:spPr>
            <a:xfrm>
              <a:off x="293175" y="826263"/>
              <a:ext cx="4331400" cy="42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1.1. The Baseline Model Overview</a:t>
              </a:r>
              <a:endParaRPr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" name="Google Shape;224;p35"/>
          <p:cNvGrpSpPr/>
          <p:nvPr/>
        </p:nvGrpSpPr>
        <p:grpSpPr>
          <a:xfrm>
            <a:off x="5635525" y="377700"/>
            <a:ext cx="3477225" cy="3990957"/>
            <a:chOff x="5635525" y="377700"/>
            <a:chExt cx="3477225" cy="3990957"/>
          </a:xfrm>
        </p:grpSpPr>
        <p:pic>
          <p:nvPicPr>
            <p:cNvPr id="225" name="Google Shape;225;p3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35525" y="773275"/>
              <a:ext cx="3175100" cy="3211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3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380450" y="3461675"/>
              <a:ext cx="327750" cy="425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35"/>
            <p:cNvSpPr txBox="1"/>
            <p:nvPr/>
          </p:nvSpPr>
          <p:spPr>
            <a:xfrm>
              <a:off x="5656025" y="3943557"/>
              <a:ext cx="3134100" cy="42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GB" sz="900" b="1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Figure 4 : Different controllers used in the Baseline Model for controlling the Robot</a:t>
              </a:r>
              <a:endParaRPr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5"/>
            <p:cNvSpPr txBox="1"/>
            <p:nvPr/>
          </p:nvSpPr>
          <p:spPr>
            <a:xfrm>
              <a:off x="6803250" y="428900"/>
              <a:ext cx="757800" cy="34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RPP</a:t>
              </a:r>
              <a:endParaRPr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5"/>
            <p:cNvSpPr/>
            <p:nvPr/>
          </p:nvSpPr>
          <p:spPr>
            <a:xfrm rot="5400000">
              <a:off x="8414350" y="811075"/>
              <a:ext cx="639000" cy="563400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5"/>
            <p:cNvSpPr txBox="1"/>
            <p:nvPr/>
          </p:nvSpPr>
          <p:spPr>
            <a:xfrm>
              <a:off x="8354950" y="377700"/>
              <a:ext cx="757800" cy="34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E69138"/>
                  </a:solidFill>
                  <a:latin typeface="Arial"/>
                  <a:ea typeface="Arial"/>
                  <a:cs typeface="Arial"/>
                  <a:sym typeface="Arial"/>
                </a:rPr>
                <a:t>PID</a:t>
              </a:r>
              <a:endParaRPr sz="1800" b="1" i="0" u="none" strike="noStrike" cap="non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36" name="Google Shape;236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237" name="Google Shape;237;p36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6"/>
          <p:cNvSpPr txBox="1"/>
          <p:nvPr/>
        </p:nvSpPr>
        <p:spPr>
          <a:xfrm>
            <a:off x="311700" y="658725"/>
            <a:ext cx="74013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1.2. The Baseline Model Block Diagram (For Straight Path Travel)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6750" y="1152475"/>
            <a:ext cx="6710500" cy="300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46" name="Google Shape;246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247" name="Google Shape;247;p37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7"/>
          <p:cNvSpPr txBox="1"/>
          <p:nvPr/>
        </p:nvSpPr>
        <p:spPr>
          <a:xfrm>
            <a:off x="311700" y="658725"/>
            <a:ext cx="74013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1.3. The Baseline Model Block Diagram (For In-Place Rotation)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549" y="1152463"/>
            <a:ext cx="5850899" cy="309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8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450"/>
            <a:ext cx="9144000" cy="51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8"/>
          <p:cNvSpPr txBox="1"/>
          <p:nvPr/>
        </p:nvSpPr>
        <p:spPr>
          <a:xfrm>
            <a:off x="293175" y="706850"/>
            <a:ext cx="52839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GB" sz="1800" b="1">
                <a:solidFill>
                  <a:srgbClr val="FF0000"/>
                </a:solidFill>
              </a:rPr>
              <a:t>4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PID Controller for In-Place Rotation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8"/>
          <p:cNvSpPr txBox="1"/>
          <p:nvPr/>
        </p:nvSpPr>
        <p:spPr>
          <a:xfrm>
            <a:off x="433650" y="1946600"/>
            <a:ext cx="8427000" cy="25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Here,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GB" sz="14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Path Heading - Current Robot Orientation  (at time-step k)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⍵</a:t>
            </a:r>
            <a:r>
              <a:rPr lang="en-GB" sz="14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Angular Velocity command at time-step k (abt. Z- axis)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GB" sz="14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2.0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GB" sz="14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0.0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GB" sz="14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0.2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GB" sz="1400" b="1" i="1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GB" sz="1400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≈ 0.02</a:t>
            </a:r>
            <a:r>
              <a:rPr lang="en-GB" sz="1400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seconds</a:t>
            </a:r>
            <a:endParaRPr sz="1400" b="1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This output is then clamped to the range </a:t>
            </a:r>
            <a:r>
              <a:rPr lang="en-GB" sz="1400" b="0" i="1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[max_vel, min_vel]</a:t>
            </a:r>
            <a:r>
              <a:rPr lang="en-GB" sz="1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GB" sz="1400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 simulation, </a:t>
            </a:r>
            <a:r>
              <a:rPr lang="en-GB" sz="1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max_vel = 0.8 rad/s. min_vel = 0.1 rad/s.</a:t>
            </a:r>
            <a:endParaRPr sz="1400" b="1" i="0" u="none" strike="noStrike" cap="none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Tolerance = 0.2 Degrees</a:t>
            </a:r>
            <a:endParaRPr sz="1400" b="1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48325" y="1267926"/>
            <a:ext cx="3728758" cy="6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8"/>
          <p:cNvSpPr txBox="1"/>
          <p:nvPr/>
        </p:nvSpPr>
        <p:spPr>
          <a:xfrm>
            <a:off x="6519600" y="1030175"/>
            <a:ext cx="2398200" cy="10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Adapted from </a:t>
            </a: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“Introduction to PID Controllers”</a:t>
            </a: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RAW Control Theory Guide, 2024.</a:t>
            </a:r>
            <a:endParaRPr sz="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Available at:</a:t>
            </a:r>
            <a:r>
              <a:rPr lang="en-GB" sz="900" b="1" i="0" u="none" strike="noStrike" cap="non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9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https://raw.org/book/control-theory/introduction-to-pid-controllers/</a:t>
            </a:r>
            <a:endParaRPr sz="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8"/>
          <p:cNvSpPr txBox="1"/>
          <p:nvPr/>
        </p:nvSpPr>
        <p:spPr>
          <a:xfrm>
            <a:off x="5764800" y="1418938"/>
            <a:ext cx="7548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(1)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9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9"/>
          <p:cNvSpPr txBox="1"/>
          <p:nvPr/>
        </p:nvSpPr>
        <p:spPr>
          <a:xfrm>
            <a:off x="358775" y="658553"/>
            <a:ext cx="7783800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GB" sz="1800" b="1">
                <a:solidFill>
                  <a:srgbClr val="FF0000"/>
                </a:solidFill>
              </a:rPr>
              <a:t>5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Regulated Pure Pursuit Controller : Mathematical Formulation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9"/>
          <p:cNvSpPr/>
          <p:nvPr/>
        </p:nvSpPr>
        <p:spPr>
          <a:xfrm>
            <a:off x="358775" y="4353175"/>
            <a:ext cx="8785200" cy="79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9"/>
          <p:cNvSpPr/>
          <p:nvPr/>
        </p:nvSpPr>
        <p:spPr>
          <a:xfrm>
            <a:off x="5306900" y="2448600"/>
            <a:ext cx="473700" cy="1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9"/>
          <p:cNvSpPr/>
          <p:nvPr/>
        </p:nvSpPr>
        <p:spPr>
          <a:xfrm>
            <a:off x="6986125" y="3089900"/>
            <a:ext cx="698400" cy="32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9"/>
          <p:cNvSpPr txBox="1"/>
          <p:nvPr/>
        </p:nvSpPr>
        <p:spPr>
          <a:xfrm>
            <a:off x="196873" y="1131950"/>
            <a:ext cx="4873200" cy="3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Curvature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Arc 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the robot has to travel to reach the lookahead point is given by the following formula: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curvature, the </a:t>
            </a: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Radius of the Arc 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calculated as :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radius, the angular velocity of the robot is calculated as: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39" descr="{&quot;mathml&quot;:&quot;&lt;math style=\&quot;font-family:stix;font-size:16px;\&quot; xmlns=\&quot;http://www.w3.org/1998/Math/MathML\&quot;&gt;&lt;mstyle mathsize=\&quot;16px\&quot;&gt;&lt;mi&gt;k&lt;/mi&gt;&lt;mo&gt;&amp;#xA0;&lt;/mo&gt;&lt;mo&gt;=&lt;/mo&gt;&lt;mo&gt;&amp;#xA0;&lt;/mo&gt;&lt;mfrac&gt;&lt;mrow&gt;&lt;mn&gt;2&lt;/mn&gt;&lt;mi&gt;x&lt;/mi&gt;&lt;/mrow&gt;&lt;msup&gt;&lt;mi&gt;L&lt;/mi&gt;&lt;mn&gt;2&lt;/mn&gt;&lt;/msup&gt;&lt;/mfrac&gt;&lt;/mstyle&gt;&lt;/math&gt;&quot;,&quot;truncated&quot;:false}" title="k space equals space fraction numerator 2 x over denominator L squared end fractio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5843" y="1920597"/>
            <a:ext cx="715264" cy="4734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39"/>
          <p:cNvGrpSpPr/>
          <p:nvPr/>
        </p:nvGrpSpPr>
        <p:grpSpPr>
          <a:xfrm>
            <a:off x="4975575" y="1349799"/>
            <a:ext cx="4082837" cy="3504820"/>
            <a:chOff x="4472138" y="897637"/>
            <a:chExt cx="4216500" cy="3795971"/>
          </a:xfrm>
        </p:grpSpPr>
        <p:sp>
          <p:nvSpPr>
            <p:cNvPr id="274" name="Google Shape;274;p39"/>
            <p:cNvSpPr txBox="1"/>
            <p:nvPr/>
          </p:nvSpPr>
          <p:spPr>
            <a:xfrm>
              <a:off x="4472138" y="3717708"/>
              <a:ext cx="4216500" cy="9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GB" sz="900" b="1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Figure 5 : Geometry of the Pure Pursuit algorithm illustrating the relationship between the robot, lookahead point, and the circular arc used for trajectory tracking.</a:t>
              </a:r>
              <a:endParaRPr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GB" sz="9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Source: Adapted from </a:t>
              </a:r>
              <a:r>
                <a:rPr lang="en-GB" sz="900" b="1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“Implementation of the Pure Pursuit Path Tracking Algorithm”</a:t>
              </a:r>
              <a:r>
                <a:rPr lang="en-GB" sz="9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by R. C. Coulter, Carnegie Mellon University, 1992.</a:t>
              </a:r>
              <a:endParaRPr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5" name="Google Shape;275;p39"/>
            <p:cNvGrpSpPr/>
            <p:nvPr/>
          </p:nvGrpSpPr>
          <p:grpSpPr>
            <a:xfrm>
              <a:off x="4498052" y="897637"/>
              <a:ext cx="4138334" cy="2681475"/>
              <a:chOff x="4498052" y="897637"/>
              <a:chExt cx="4138334" cy="2681475"/>
            </a:xfrm>
          </p:grpSpPr>
          <p:grpSp>
            <p:nvGrpSpPr>
              <p:cNvPr id="276" name="Google Shape;276;p39"/>
              <p:cNvGrpSpPr/>
              <p:nvPr/>
            </p:nvGrpSpPr>
            <p:grpSpPr>
              <a:xfrm>
                <a:off x="4498052" y="897637"/>
                <a:ext cx="4138334" cy="2681475"/>
                <a:chOff x="4498052" y="897637"/>
                <a:chExt cx="4138334" cy="2681475"/>
              </a:xfrm>
            </p:grpSpPr>
            <p:pic>
              <p:nvPicPr>
                <p:cNvPr id="277" name="Google Shape;277;p39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4498052" y="897637"/>
                  <a:ext cx="4138334" cy="26814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8" name="Google Shape;278;p39"/>
                <p:cNvSpPr txBox="1"/>
                <p:nvPr/>
              </p:nvSpPr>
              <p:spPr>
                <a:xfrm rot="-2699635">
                  <a:off x="5175854" y="2133421"/>
                  <a:ext cx="1995526" cy="4556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-GB" sz="1200" b="1" i="0" u="none" strike="noStrike" cap="none">
                      <a:solidFill>
                        <a:srgbClr val="CC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Lookahead Distance L</a:t>
                  </a:r>
                  <a:endParaRPr sz="1200" b="1" i="0" u="none" strike="noStrike" cap="non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" name="Google Shape;279;p39"/>
                <p:cNvSpPr txBox="1"/>
                <p:nvPr/>
              </p:nvSpPr>
              <p:spPr>
                <a:xfrm rot="700">
                  <a:off x="7089224" y="897791"/>
                  <a:ext cx="1472400" cy="34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-GB" sz="1200" b="1" i="0" u="none" strike="noStrike" cap="none">
                      <a:solidFill>
                        <a:srgbClr val="CC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Lookahead Point</a:t>
                  </a:r>
                  <a:endParaRPr sz="1200" b="1" i="0" u="none" strike="noStrike" cap="non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" name="Google Shape;280;p39"/>
                <p:cNvSpPr txBox="1"/>
                <p:nvPr/>
              </p:nvSpPr>
              <p:spPr>
                <a:xfrm>
                  <a:off x="5771036" y="3089908"/>
                  <a:ext cx="3600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GB" sz="1800" b="1" i="0" u="none" strike="noStrike" cap="non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 sz="1800" b="1" i="0" u="none" strike="noStrike" cap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1" name="Google Shape;281;p39"/>
                <p:cNvCxnSpPr>
                  <a:stCxn id="280" idx="3"/>
                </p:cNvCxnSpPr>
                <p:nvPr/>
              </p:nvCxnSpPr>
              <p:spPr>
                <a:xfrm rot="10800000" flipH="1">
                  <a:off x="6131036" y="3252358"/>
                  <a:ext cx="855000" cy="9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282" name="Google Shape;282;p39"/>
                <p:cNvCxnSpPr>
                  <a:stCxn id="280" idx="1"/>
                </p:cNvCxnSpPr>
                <p:nvPr/>
              </p:nvCxnSpPr>
              <p:spPr>
                <a:xfrm flipH="1">
                  <a:off x="4785836" y="3261358"/>
                  <a:ext cx="985200" cy="11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</p:grpSp>
          <p:sp>
            <p:nvSpPr>
              <p:cNvPr id="283" name="Google Shape;283;p39"/>
              <p:cNvSpPr/>
              <p:nvPr/>
            </p:nvSpPr>
            <p:spPr>
              <a:xfrm>
                <a:off x="5287950" y="2448600"/>
                <a:ext cx="492600" cy="123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84" name="Google Shape;284;p39" descr="{&quot;mathml&quot;:&quot;&lt;math style=\&quot;font-family:stix;font-size:16px;\&quot; xmlns=\&quot;http://www.w3.org/1998/Math/MathML\&quot;&gt;&lt;mstyle mathsize=\&quot;16px\&quot;&gt;&lt;mi&gt;r&lt;/mi&gt;&lt;mo&gt;&amp;#xA0;&lt;/mo&gt;&lt;mo&gt;=&lt;/mo&gt;&lt;mo&gt;&amp;#xA0;&lt;/mo&gt;&lt;mfrac&gt;&lt;mn&gt;1&lt;/mn&gt;&lt;mi&gt;k&lt;/mi&gt;&lt;/mfrac&gt;&lt;/mstyle&gt;&lt;/math&gt;&quot;,&quot;truncated&quot;:false}" title="r space equals space 1 over 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38835" y="2884776"/>
            <a:ext cx="589280" cy="43484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9"/>
          <p:cNvSpPr txBox="1"/>
          <p:nvPr/>
        </p:nvSpPr>
        <p:spPr>
          <a:xfrm>
            <a:off x="485450" y="4447279"/>
            <a:ext cx="4281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Equation Source: Adapted from </a:t>
            </a: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“Implementation of the Pure Pursuit Path Tracking Algorithm”</a:t>
            </a: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R. C. Coulter, Carnegie Mellon University, 1992.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39" descr="{&quot;mathml&quot;:&quot;&lt;math style=\&quot;font-family:stix;font-size:16px;\&quot; xmlns=\&quot;http://www.w3.org/1998/Math/MathML\&quot;&gt;&lt;mstyle mathsize=\&quot;16px\&quot;&gt;&lt;mi&gt;&amp;#x3C9;&lt;/mi&gt;&lt;mo&gt;&amp;#xA0;&lt;/mo&gt;&lt;mo&gt;=&lt;/mo&gt;&lt;mo&gt;&amp;#xA0;&lt;/mo&gt;&lt;mfrac&gt;&lt;mi&gt;v&lt;/mi&gt;&lt;mi&gt;r&lt;/mi&gt;&lt;/mfrac&gt;&lt;/mstyle&gt;&lt;/math&gt;&quot;,&quot;truncated&quot;:false}" title="omega space equals space v over 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75851" y="4088245"/>
            <a:ext cx="650240" cy="379984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9"/>
          <p:cNvSpPr txBox="1"/>
          <p:nvPr/>
        </p:nvSpPr>
        <p:spPr>
          <a:xfrm rot="-5400000">
            <a:off x="6766975" y="2623700"/>
            <a:ext cx="11367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Reference Path</a:t>
            </a:r>
            <a:endParaRPr sz="9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9"/>
          <p:cNvSpPr/>
          <p:nvPr/>
        </p:nvSpPr>
        <p:spPr>
          <a:xfrm>
            <a:off x="7452100" y="3338525"/>
            <a:ext cx="589200" cy="180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9"/>
          <p:cNvSpPr txBox="1"/>
          <p:nvPr/>
        </p:nvSpPr>
        <p:spPr>
          <a:xfrm>
            <a:off x="3730375" y="1968613"/>
            <a:ext cx="7548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(2)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91" name="Google Shape;291;p39"/>
          <p:cNvSpPr txBox="1"/>
          <p:nvPr/>
        </p:nvSpPr>
        <p:spPr>
          <a:xfrm>
            <a:off x="3730375" y="2913488"/>
            <a:ext cx="7548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(3)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92" name="Google Shape;292;p39"/>
          <p:cNvSpPr txBox="1"/>
          <p:nvPr/>
        </p:nvSpPr>
        <p:spPr>
          <a:xfrm>
            <a:off x="3730375" y="4089525"/>
            <a:ext cx="7548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(4)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0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0"/>
          <p:cNvSpPr/>
          <p:nvPr/>
        </p:nvSpPr>
        <p:spPr>
          <a:xfrm>
            <a:off x="358775" y="4353175"/>
            <a:ext cx="8785200" cy="79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0"/>
          <p:cNvSpPr/>
          <p:nvPr/>
        </p:nvSpPr>
        <p:spPr>
          <a:xfrm>
            <a:off x="5306900" y="2448600"/>
            <a:ext cx="473700" cy="1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0"/>
          <p:cNvSpPr/>
          <p:nvPr/>
        </p:nvSpPr>
        <p:spPr>
          <a:xfrm>
            <a:off x="6986125" y="3089900"/>
            <a:ext cx="698400" cy="32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0"/>
          <p:cNvSpPr txBox="1"/>
          <p:nvPr/>
        </p:nvSpPr>
        <p:spPr>
          <a:xfrm>
            <a:off x="457050" y="1141425"/>
            <a:ext cx="8439900" cy="3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Lookahead Distance 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RPP controller algorithm is selected using the following velocity based heuristic </a:t>
            </a:r>
            <a:r>
              <a:rPr lang="en-GB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rule: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Meaning of Each Term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Lookahead distance</a:t>
            </a:r>
            <a:endParaRPr sz="1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GB" sz="14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⁡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Minimum lookahead distance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99999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GB" sz="14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⁡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Maximum lookahead distance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Current linear velocity of the robot</a:t>
            </a:r>
            <a:endParaRPr sz="1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GB" sz="14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</a:t>
            </a: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Lookahead gain : </a:t>
            </a:r>
            <a:r>
              <a:rPr lang="en-GB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Controls how aggressively lookahead increases with speed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Baseline Implementation : </a:t>
            </a:r>
            <a:r>
              <a:rPr lang="en-GB" sz="1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GB" sz="1400" b="1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lang="en-GB" sz="1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​= 0.</a:t>
            </a:r>
            <a:r>
              <a:rPr lang="en-GB" b="1" i="1">
                <a:solidFill>
                  <a:schemeClr val="dk1"/>
                </a:solidFill>
              </a:rPr>
              <a:t>4</a:t>
            </a:r>
            <a:r>
              <a:rPr lang="en-GB" sz="1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m, L</a:t>
            </a:r>
            <a:r>
              <a:rPr lang="en-GB" sz="1400" b="1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</a:t>
            </a:r>
            <a:r>
              <a:rPr lang="en-GB" sz="1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​= 0.8 m, T</a:t>
            </a:r>
            <a:r>
              <a:rPr lang="en-GB" sz="1400" b="1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</a:t>
            </a:r>
            <a:r>
              <a:rPr lang="en-GB" sz="1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​= </a:t>
            </a:r>
            <a:r>
              <a:rPr lang="en-GB" b="1" i="1">
                <a:solidFill>
                  <a:schemeClr val="dk1"/>
                </a:solidFill>
              </a:rPr>
              <a:t>0.7</a:t>
            </a:r>
            <a:r>
              <a:rPr lang="en-GB" sz="1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400" b="1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0"/>
          <p:cNvSpPr txBox="1"/>
          <p:nvPr/>
        </p:nvSpPr>
        <p:spPr>
          <a:xfrm>
            <a:off x="6537801" y="1644650"/>
            <a:ext cx="2237700" cy="16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Equation Source: Adapted from velocity-scaled lookahead formulation in </a:t>
            </a: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“Regulated Pure Pursuit for Robot Path Tracking”</a:t>
            </a: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S. Macenski et al., Autonomous Robots, 2023, and Nav2 Regulated Pure Pursuit Controller documentation.</a:t>
            </a:r>
            <a:endParaRPr sz="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Available at:</a:t>
            </a:r>
            <a:r>
              <a:rPr lang="en-GB" sz="900" b="1" i="0" u="none" strike="noStrike" cap="non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9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https://docs.ros.org/en/iron/p/nav2_regulated_pure_pursuit_controller</a:t>
            </a: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0"/>
          <p:cNvSpPr txBox="1"/>
          <p:nvPr/>
        </p:nvSpPr>
        <p:spPr>
          <a:xfrm>
            <a:off x="358775" y="658553"/>
            <a:ext cx="7783800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GB" sz="1800" b="1">
                <a:solidFill>
                  <a:srgbClr val="FF0000"/>
                </a:solidFill>
              </a:rPr>
              <a:t>6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Regulated Pure Pursuit Controller : Lookahead Distance Heuristic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53524" y="1600900"/>
            <a:ext cx="2994325" cy="104084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0"/>
          <p:cNvSpPr txBox="1"/>
          <p:nvPr/>
        </p:nvSpPr>
        <p:spPr>
          <a:xfrm>
            <a:off x="5986300" y="2030175"/>
            <a:ext cx="7548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(5)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41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/>
          <p:nvPr/>
        </p:nvSpPr>
        <p:spPr>
          <a:xfrm>
            <a:off x="358775" y="4353175"/>
            <a:ext cx="8785200" cy="79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1"/>
          <p:cNvSpPr/>
          <p:nvPr/>
        </p:nvSpPr>
        <p:spPr>
          <a:xfrm>
            <a:off x="5306900" y="2448600"/>
            <a:ext cx="473700" cy="1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1"/>
          <p:cNvSpPr/>
          <p:nvPr/>
        </p:nvSpPr>
        <p:spPr>
          <a:xfrm>
            <a:off x="6986125" y="3089900"/>
            <a:ext cx="698400" cy="32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1"/>
          <p:cNvSpPr txBox="1"/>
          <p:nvPr/>
        </p:nvSpPr>
        <p:spPr>
          <a:xfrm>
            <a:off x="457050" y="970990"/>
            <a:ext cx="8439900" cy="3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RPP applies two complementary heuristics to regulate the linear speed - a </a:t>
            </a: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curvature heuristic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a </a:t>
            </a: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proximity (obstacle) heuristic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final commanded linear speed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</a:t>
            </a: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 conservative value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Proximity Heuristic Rule 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disabled 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</a:t>
            </a: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current implementation 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</a:t>
            </a: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Curvature heuristic (slowing down during sharp turns):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GB" sz="13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</a:t>
            </a: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maximum desirable linear velocity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robot. </a:t>
            </a: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κ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path curvature at the lookahead point. In practice, </a:t>
            </a: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heuristic is activated only when curvature change κ exceeds a small threshold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GB" sz="13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κ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avoid reacting to tiny path noise. Once the curvature heuristics is activated, the value </a:t>
            </a: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GB" sz="13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(decided by the control designer)</a:t>
            </a:r>
            <a:r>
              <a:rPr lang="en-GB" sz="13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decides </a:t>
            </a: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much the speed should be reduced. </a:t>
            </a:r>
            <a:endParaRPr sz="1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Baseline Implementation : </a:t>
            </a:r>
            <a:r>
              <a:rPr lang="en-GB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GB" sz="15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lang="en-GB"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0.5 m, T</a:t>
            </a:r>
            <a:r>
              <a:rPr lang="en-GB" sz="15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GB"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2.0 m</a:t>
            </a:r>
            <a:r>
              <a:rPr lang="en-GB" sz="1500" b="1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GB"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 b="1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41" descr="{&quot;mathml&quot;:&quot;&lt;math style=\&quot;font-family:stix;font-size:16px;\&quot; xmlns=\&quot;http://www.w3.org/1998/Math/MathML\&quot;&gt;&lt;mstyle mathsize=\&quot;16px\&quot;&gt;&lt;msup&gt;&lt;msub&gt;&lt;mi&gt;v&lt;/mi&gt;&lt;mi&gt;t&lt;/mi&gt;&lt;/msub&gt;&lt;mo&gt;'&lt;/mo&gt;&lt;/msup&gt;&lt;mo&gt;&amp;#xA0;&lt;/mo&gt;&lt;mo&gt;=&lt;/mo&gt;&lt;mo&gt;&amp;#xA0;&lt;/mo&gt;&lt;mi&gt;m&lt;/mi&gt;&lt;mi&gt;i&lt;/mi&gt;&lt;mi&gt;n&lt;/mi&gt;&lt;mo&gt;&amp;#xA0;&lt;/mo&gt;&lt;mfenced&gt;&lt;mrow&gt;&lt;msub&gt;&lt;mi&gt;v&lt;/mi&gt;&lt;mrow&gt;&lt;mi&gt;c&lt;/mi&gt;&lt;mi&gt;u&lt;/mi&gt;&lt;mi&gt;r&lt;/mi&gt;&lt;mi&gt;v&lt;/mi&gt;&lt;/mrow&gt;&lt;/msub&gt;&lt;mo&gt;,&lt;/mo&gt;&lt;mo&gt;&amp;#xA0;&lt;/mo&gt;&lt;msub&gt;&lt;mi&gt;v&lt;/mi&gt;&lt;mrow&gt;&lt;mi&gt;p&lt;/mi&gt;&lt;mi&gt;r&lt;/mi&gt;&lt;mi&gt;o&lt;/mi&gt;&lt;mi&gt;x&lt;/mi&gt;&lt;/mrow&gt;&lt;/msub&gt;&lt;/mrow&gt;&lt;/mfenced&gt;&lt;/mstyle&gt;&lt;/math&gt;&quot;,&quot;truncated&quot;:false}" title="v subscript t to the power of apostrophe space equals space m i n space open parentheses v subscript c u r v end subscript comma space v subscript p r o x end subscript close parenthese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43715" y="1825743"/>
            <a:ext cx="2078736" cy="308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43725" y="2893188"/>
            <a:ext cx="2078725" cy="70140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1"/>
          <p:cNvSpPr txBox="1"/>
          <p:nvPr/>
        </p:nvSpPr>
        <p:spPr>
          <a:xfrm>
            <a:off x="6614075" y="2796406"/>
            <a:ext cx="2121900" cy="8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Equation Source: Adapted from </a:t>
            </a: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Regulated Pure Pursuit for Robot Path Tracking</a:t>
            </a: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Macenski et al., 2023.</a:t>
            </a:r>
            <a:endParaRPr sz="9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1"/>
          <p:cNvSpPr txBox="1"/>
          <p:nvPr/>
        </p:nvSpPr>
        <p:spPr>
          <a:xfrm>
            <a:off x="358775" y="578342"/>
            <a:ext cx="7783800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GB" sz="1800" b="1">
                <a:solidFill>
                  <a:srgbClr val="FF0000"/>
                </a:solidFill>
              </a:rPr>
              <a:t>7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Regulated Pure Pursuit Controller : Velocity Heuristics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41" descr="{&quot;mathml&quot;:&quot;&lt;math style=\&quot;font-family:stix;font-size:16px;\&quot; xmlns=\&quot;http://www.w3.org/1998/Math/MathML\&quot;&gt;&lt;mstyle mathsize=\&quot;16px\&quot;&gt;&lt;msup&gt;&lt;msub&gt;&lt;mi&gt;v&lt;/mi&gt;&lt;mi&gt;t&lt;/mi&gt;&lt;/msub&gt;&lt;mo&gt;'&lt;/mo&gt;&lt;/msup&gt;&lt;mo&gt;&amp;#xA0;&lt;/mo&gt;&lt;mo&gt;=&lt;/mo&gt;&lt;mo&gt;&amp;#xA0;&lt;/mo&gt;&lt;msub&gt;&lt;mi&gt;v&lt;/mi&gt;&lt;mrow&gt;&lt;mi&gt;c&lt;/mi&gt;&lt;mi&gt;u&lt;/mi&gt;&lt;mi&gt;r&lt;/mi&gt;&lt;mi&gt;v&lt;/mi&gt;&lt;/mrow&gt;&lt;/msub&gt;&lt;/mstyle&gt;&lt;/math&gt;&quot;,&quot;truncated&quot;:false}" title="v subscript t to the power of apostrophe space equals space v subscript c u r v end subscript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58884" y="2328559"/>
            <a:ext cx="9164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1"/>
          <p:cNvSpPr txBox="1"/>
          <p:nvPr/>
        </p:nvSpPr>
        <p:spPr>
          <a:xfrm>
            <a:off x="6556150" y="1598618"/>
            <a:ext cx="2121900" cy="8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Equation Source: Adapted from </a:t>
            </a: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Regulated Pure Pursuit for Robot Path Tracking</a:t>
            </a: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GB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Macenski et al., 2023.</a:t>
            </a:r>
            <a:endParaRPr sz="9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1"/>
          <p:cNvSpPr txBox="1"/>
          <p:nvPr/>
        </p:nvSpPr>
        <p:spPr>
          <a:xfrm>
            <a:off x="5477675" y="1791475"/>
            <a:ext cx="7548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(6)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24" name="Google Shape;324;p41"/>
          <p:cNvSpPr txBox="1"/>
          <p:nvPr/>
        </p:nvSpPr>
        <p:spPr>
          <a:xfrm>
            <a:off x="5477675" y="3133350"/>
            <a:ext cx="7548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(7)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42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450"/>
            <a:ext cx="9144000" cy="51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2"/>
          <p:cNvSpPr txBox="1"/>
          <p:nvPr/>
        </p:nvSpPr>
        <p:spPr>
          <a:xfrm>
            <a:off x="988725" y="1681600"/>
            <a:ext cx="73470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II : Stochastic Non-Linear Model Predictive Control For Adaptive Lookahead Distance in RPP Controller </a:t>
            </a:r>
            <a:endParaRPr sz="2700" b="1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(SNMPC-RPP Controller)</a:t>
            </a:r>
            <a:endParaRPr sz="2700" b="1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201;p34">
            <a:extLst>
              <a:ext uri="{FF2B5EF4-FFF2-40B4-BE49-F238E27FC236}">
                <a16:creationId xmlns:a16="http://schemas.microsoft.com/office/drawing/2014/main" id="{3D9D145F-E76E-65F7-40AC-EBF940BFD123}"/>
              </a:ext>
            </a:extLst>
          </p:cNvPr>
          <p:cNvSpPr txBox="1"/>
          <p:nvPr/>
        </p:nvSpPr>
        <p:spPr>
          <a:xfrm>
            <a:off x="1614146" y="26663"/>
            <a:ext cx="5915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 i="0" u="none" strike="noStrike" cap="none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700" b="1" i="0" u="none" strike="noStrike" cap="none" dirty="0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3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3"/>
          <p:cNvSpPr txBox="1"/>
          <p:nvPr/>
        </p:nvSpPr>
        <p:spPr>
          <a:xfrm>
            <a:off x="358775" y="578342"/>
            <a:ext cx="7783800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</a:rPr>
              <a:t>2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800" b="1">
                <a:solidFill>
                  <a:srgbClr val="FF0000"/>
                </a:solidFill>
              </a:rPr>
              <a:t>1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Proposed SNMPC‑RPP Controller Architecture</a:t>
            </a:r>
            <a:endParaRPr sz="2100" b="1">
              <a:solidFill>
                <a:srgbClr val="FF0000"/>
              </a:solidFill>
            </a:endParaRPr>
          </a:p>
        </p:txBody>
      </p:sp>
      <p:sp>
        <p:nvSpPr>
          <p:cNvPr id="339" name="Google Shape;339;p43"/>
          <p:cNvSpPr txBox="1"/>
          <p:nvPr/>
        </p:nvSpPr>
        <p:spPr>
          <a:xfrm>
            <a:off x="385550" y="1051750"/>
            <a:ext cx="4257600" cy="3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0000" lvl="0" indent="-178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GB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Only the lookahead selection of RPP is replaced </a:t>
            </a:r>
            <a:r>
              <a:rPr lang="en-GB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– all other RPP modules (velocity regulation by curvature, collision checking) remain unchanged.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0000" lvl="0" indent="-166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Inputs</a:t>
            </a:r>
            <a:r>
              <a:rPr lang="en-GB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to the SNMPC optimizer (each control cycle, 5 Hz): Robot pose </a:t>
            </a:r>
            <a:r>
              <a:rPr lang="en-GB" sz="125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Consolas"/>
                <a:cs typeface="Consolas"/>
                <a:sym typeface="Consolas"/>
              </a:rPr>
              <a:t>(x, y, θ)</a:t>
            </a:r>
            <a:r>
              <a:rPr lang="en-GB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and its </a:t>
            </a:r>
            <a:r>
              <a:rPr lang="en-GB" sz="125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Consolas"/>
                <a:cs typeface="Consolas"/>
                <a:sym typeface="Consolas"/>
              </a:rPr>
              <a:t>3×3</a:t>
            </a:r>
            <a:r>
              <a:rPr lang="en-GB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covariance </a:t>
            </a:r>
            <a:r>
              <a:rPr lang="en-GB" sz="125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Consolas"/>
                <a:cs typeface="Consolas"/>
                <a:sym typeface="Consolas"/>
              </a:rPr>
              <a:t>Σ</a:t>
            </a:r>
            <a:r>
              <a:rPr lang="en-GB" sz="1250" baseline="-2500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Consolas"/>
                <a:cs typeface="Consolas"/>
                <a:sym typeface="Consolas"/>
              </a:rPr>
              <a:t>pose</a:t>
            </a:r>
            <a:r>
              <a:rPr lang="en-GB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from the state estimator (e.g., EKF) and </a:t>
            </a:r>
            <a:r>
              <a:rPr lang="en-GB">
                <a:solidFill>
                  <a:srgbClr val="0F1115"/>
                </a:solidFill>
                <a:highlight>
                  <a:srgbClr val="FFFFFF"/>
                </a:highlight>
              </a:rPr>
              <a:t>Robot forward speed </a:t>
            </a:r>
            <a:r>
              <a:rPr lang="en-GB">
                <a:solidFill>
                  <a:srgbClr val="0F1115"/>
                </a:solidFill>
                <a:highlight>
                  <a:srgbClr val="EBEEF2"/>
                </a:highlight>
              </a:rPr>
              <a:t>v</a:t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marL="90000" lvl="0" indent="-166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Output</a:t>
            </a:r>
            <a:r>
              <a:rPr lang="en-GB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optimal lookahead distance </a:t>
            </a:r>
            <a:r>
              <a:rPr lang="en-GB" sz="125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Consolas"/>
                <a:cs typeface="Consolas"/>
                <a:sym typeface="Consolas"/>
              </a:rPr>
              <a:t>L*</a:t>
            </a:r>
            <a:r>
              <a:rPr lang="en-GB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→ passed directly to the RPP geometric control law.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0000" lvl="0" indent="-178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GB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Preserves RPP simplicity – no changes to velocity regulation or collision checking.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40" name="Google Shape;340;p43"/>
          <p:cNvGrpSpPr/>
          <p:nvPr/>
        </p:nvGrpSpPr>
        <p:grpSpPr>
          <a:xfrm>
            <a:off x="4688652" y="1132095"/>
            <a:ext cx="4372982" cy="2664433"/>
            <a:chOff x="4811900" y="1415562"/>
            <a:chExt cx="4257601" cy="2594132"/>
          </a:xfrm>
        </p:grpSpPr>
        <p:pic>
          <p:nvPicPr>
            <p:cNvPr id="341" name="Google Shape;34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11900" y="1415562"/>
              <a:ext cx="4257601" cy="23123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43"/>
            <p:cNvSpPr txBox="1"/>
            <p:nvPr/>
          </p:nvSpPr>
          <p:spPr>
            <a:xfrm>
              <a:off x="4884709" y="3713380"/>
              <a:ext cx="4112001" cy="296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950" tIns="84950" rIns="84950" bIns="849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36" b="1">
                  <a:solidFill>
                    <a:srgbClr val="0F1115"/>
                  </a:solidFill>
                  <a:highlight>
                    <a:srgbClr val="FFFFFF"/>
                  </a:highlight>
                </a:rPr>
                <a:t>Figure 6: SNMPC‑RPP Controller Architecture</a:t>
              </a:r>
              <a:endParaRPr sz="1393" b="1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9" name="Google Shape;349;p44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4"/>
          <p:cNvSpPr txBox="1"/>
          <p:nvPr/>
        </p:nvSpPr>
        <p:spPr>
          <a:xfrm>
            <a:off x="360950" y="559975"/>
            <a:ext cx="86976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</a:rPr>
              <a:t>2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800" b="1">
                <a:solidFill>
                  <a:srgbClr val="FF0000"/>
                </a:solidFill>
              </a:rPr>
              <a:t>2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SNMPC‑RPP Controller: Path‑Relative Error – Definition and Geometry</a:t>
            </a:r>
            <a:endParaRPr sz="2700" b="1">
              <a:solidFill>
                <a:srgbClr val="FF0000"/>
              </a:solidFill>
            </a:endParaRPr>
          </a:p>
        </p:txBody>
      </p:sp>
      <p:grpSp>
        <p:nvGrpSpPr>
          <p:cNvPr id="352" name="Google Shape;352;p44"/>
          <p:cNvGrpSpPr/>
          <p:nvPr/>
        </p:nvGrpSpPr>
        <p:grpSpPr>
          <a:xfrm>
            <a:off x="5274748" y="1456876"/>
            <a:ext cx="3781848" cy="2858005"/>
            <a:chOff x="4790775" y="1055463"/>
            <a:chExt cx="4142675" cy="3130687"/>
          </a:xfrm>
        </p:grpSpPr>
        <p:pic>
          <p:nvPicPr>
            <p:cNvPr id="353" name="Google Shape;35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90775" y="1055463"/>
              <a:ext cx="4142675" cy="283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44"/>
            <p:cNvSpPr txBox="1"/>
            <p:nvPr/>
          </p:nvSpPr>
          <p:spPr>
            <a:xfrm>
              <a:off x="5075100" y="3890950"/>
              <a:ext cx="37572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450" tIns="83450" rIns="83450" bIns="834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22" b="1">
                  <a:solidFill>
                    <a:srgbClr val="0F1115"/>
                  </a:solidFill>
                  <a:highlight>
                    <a:srgbClr val="FFFFFF"/>
                  </a:highlight>
                </a:rPr>
                <a:t>Figure 7: Path‑relative error geometry.</a:t>
              </a:r>
              <a:endParaRPr sz="1369" b="1">
                <a:solidFill>
                  <a:schemeClr val="dk2"/>
                </a:solidFill>
              </a:endParaRPr>
            </a:p>
          </p:txBody>
        </p:sp>
      </p:grpSp>
      <p:sp>
        <p:nvSpPr>
          <p:cNvPr id="355" name="Google Shape;355;p44"/>
          <p:cNvSpPr txBox="1"/>
          <p:nvPr/>
        </p:nvSpPr>
        <p:spPr>
          <a:xfrm>
            <a:off x="360950" y="1017725"/>
            <a:ext cx="4839900" cy="3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robot’s tracking performance is described by two errors relative to the current straight path segment: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-GB" sz="12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Lateral error e</a:t>
            </a:r>
            <a:r>
              <a:rPr lang="en-GB" sz="1200" b="1" baseline="-25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– signed perpendicular distance from the robot to the path (positive = left of path):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-GB" sz="12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Heading error e</a:t>
            </a:r>
            <a:r>
              <a:rPr lang="en-GB" sz="1200" b="1" baseline="-25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𝜃</a:t>
            </a: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– angular offset between robot heading and path direction: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360001" lvl="1" indent="-30480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-GB" sz="1200">
                <a:solidFill>
                  <a:srgbClr val="0F1115"/>
                </a:solidFill>
                <a:highlight>
                  <a:srgbClr val="EBEEF2"/>
                </a:highlight>
              </a:rPr>
              <a:t>(x, y, θ)</a:t>
            </a:r>
            <a:r>
              <a:rPr lang="en-GB" sz="12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– robot pose in the global (map) frame</a:t>
            </a:r>
            <a:endParaRPr sz="1200">
              <a:solidFill>
                <a:srgbClr val="0F111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360001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-GB" sz="1200">
                <a:solidFill>
                  <a:srgbClr val="0F1115"/>
                </a:solidFill>
                <a:highlight>
                  <a:srgbClr val="EBEEF2"/>
                </a:highlight>
              </a:rPr>
              <a:t>(x</a:t>
            </a:r>
            <a:r>
              <a:rPr lang="en-GB" sz="1200" baseline="-25000">
                <a:solidFill>
                  <a:srgbClr val="0F1115"/>
                </a:solidFill>
                <a:highlight>
                  <a:srgbClr val="EBEEF2"/>
                </a:highlight>
              </a:rPr>
              <a:t>o</a:t>
            </a:r>
            <a:r>
              <a:rPr lang="en-GB" sz="1200">
                <a:solidFill>
                  <a:srgbClr val="0F1115"/>
                </a:solidFill>
                <a:highlight>
                  <a:srgbClr val="EBEEF2"/>
                </a:highlight>
              </a:rPr>
              <a:t>, y</a:t>
            </a:r>
            <a:r>
              <a:rPr lang="en-GB" sz="1200" baseline="-25000">
                <a:solidFill>
                  <a:srgbClr val="0F1115"/>
                </a:solidFill>
                <a:highlight>
                  <a:srgbClr val="EBEEF2"/>
                </a:highlight>
              </a:rPr>
              <a:t>o</a:t>
            </a:r>
            <a:r>
              <a:rPr lang="en-GB" sz="1200">
                <a:solidFill>
                  <a:srgbClr val="0F1115"/>
                </a:solidFill>
                <a:highlight>
                  <a:srgbClr val="EBEEF2"/>
                </a:highlight>
              </a:rPr>
              <a:t>)</a:t>
            </a:r>
            <a:r>
              <a:rPr lang="en-GB" sz="12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– start point of the current straight path segment (also in map frame)</a:t>
            </a:r>
            <a:endParaRPr sz="1200">
              <a:solidFill>
                <a:srgbClr val="0F111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360001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-GB" sz="1200">
                <a:solidFill>
                  <a:srgbClr val="0F1115"/>
                </a:solidFill>
                <a:highlight>
                  <a:srgbClr val="EBEEF2"/>
                </a:highlight>
              </a:rPr>
              <a:t>θp</a:t>
            </a:r>
            <a:r>
              <a:rPr lang="en-GB" sz="12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– heading angle of the path segment (counter‑clockwise from map X‑axis)</a:t>
            </a:r>
            <a:endParaRPr sz="1200">
              <a:solidFill>
                <a:srgbClr val="0F111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356" name="Google Shape;356;p44" descr="{&quot;code&quot;:&quot;$$e_{y}\\,=\\,\\,-\\sin\\theta_{p}\\left(x-x_{0}\\right)\\,+\\,\\cos\\theta_{p}\\left(y-y_{0}\\right)\\,\\,\\,\\,\\,\\,\\,\\,\\,\\,\\,\\,\\,\\,\\,\\left(8\\right)$$&quot;,&quot;aid&quot;:null,&quot;type&quot;:&quot;$$&quot;,&quot;font&quot;:{&quot;size&quot;:12,&quot;family&quot;:&quot;Arial&quot;,&quot;color&quot;:&quot;#000000&quot;},&quot;id&quot;:&quot;1&quot;,&quot;backgroundColor&quot;:&quot;#FFFFFF&quot;,&quot;backgroundColorModified&quot;:false,&quot;ts&quot;:1780366334829,&quot;cs&quot;:&quot;Q4vpG3hREVeTHpy1aKKY+w==&quot;,&quot;size&quot;:{&quot;width&quot;:396.3333333333333,&quot;height&quot;:19.666666666666668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6750" y="2171758"/>
            <a:ext cx="3775075" cy="18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4" descr="{&quot;id&quot;:&quot;2&quot;,&quot;font&quot;:{&quot;family&quot;:&quot;Arial&quot;,&quot;size&quot;:12,&quot;color&quot;:&quot;#0F1115&quot;},&quot;backgroundColorModified&quot;:false,&quot;aid&quot;:null,&quot;code&quot;:&quot;$$e_{\\theta}\\,=\\,\\theta\\,-\\,\\theta_{p}\\,\\,\\,\\,\\,\\,\\,\\,\\,\\,\\,\\,\\,\\,\\,\\,\\left(9\\right)$$&quot;,&quot;backgroundColor&quot;:&quot;#FFFFFF&quot;,&quot;type&quot;:&quot;$$&quot;,&quot;ts&quot;:1780366349179,&quot;cs&quot;:&quot;IWUJsjFR/MC8hNHe6sJ72w==&quot;,&quot;size&quot;:{&quot;width&quot;:177.66666666666666,&quot;height&quot;:19.666666666666668}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8300" y="3045138"/>
            <a:ext cx="1692275" cy="18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4" name="Google Shape;364;p45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5"/>
          <p:cNvSpPr txBox="1"/>
          <p:nvPr/>
        </p:nvSpPr>
        <p:spPr>
          <a:xfrm>
            <a:off x="360950" y="494272"/>
            <a:ext cx="86976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</a:rPr>
              <a:t>2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800" b="1">
                <a:solidFill>
                  <a:srgbClr val="FF0000"/>
                </a:solidFill>
              </a:rPr>
              <a:t>3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SNMPC‑RPP Controller: Stochastic Prediction Model </a:t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367" name="Google Shape;367;p45"/>
          <p:cNvSpPr txBox="1"/>
          <p:nvPr/>
        </p:nvSpPr>
        <p:spPr>
          <a:xfrm>
            <a:off x="458100" y="894142"/>
            <a:ext cx="8227800" cy="3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The Lateral and Heading errors are considered as states for SNMPC lookahead optimizer. At each discrete prediction time-step (Δt = 0.1s), the Lateral and Heading error states are calculated as: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μ</a:t>
            </a:r>
            <a:r>
              <a:rPr lang="en-GB" sz="13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y,k+1</a:t>
            </a:r>
            <a:r>
              <a:rPr lang="en-GB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&amp; μ</a:t>
            </a:r>
            <a:r>
              <a:rPr lang="en-GB" sz="13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𝛳,k+1</a:t>
            </a:r>
            <a:r>
              <a:rPr lang="en-GB" sz="1300" b="1" baseline="-25000">
                <a:solidFill>
                  <a:schemeClr val="dk1"/>
                </a:solidFill>
              </a:rPr>
              <a:t> </a:t>
            </a:r>
            <a:r>
              <a:rPr lang="en-GB" sz="1300"/>
              <a:t> : Deterministic part of the Lateral and Heading Errors at time step  </a:t>
            </a:r>
            <a:r>
              <a:rPr lang="en-GB" sz="1300" i="1">
                <a:latin typeface="Consolas"/>
                <a:ea typeface="Consolas"/>
                <a:cs typeface="Consolas"/>
                <a:sym typeface="Consolas"/>
              </a:rPr>
              <a:t>k+1</a:t>
            </a:r>
            <a:r>
              <a:rPr lang="en-GB" sz="1300"/>
              <a:t>.</a:t>
            </a:r>
            <a:endParaRPr sz="13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b="1">
                <a:latin typeface="Courier New"/>
                <a:ea typeface="Courier New"/>
                <a:cs typeface="Courier New"/>
                <a:sym typeface="Courier New"/>
              </a:rPr>
              <a:t>⍵</a:t>
            </a:r>
            <a:r>
              <a:rPr lang="en-GB" sz="1300" b="1" baseline="-25000">
                <a:latin typeface="Courier New"/>
                <a:ea typeface="Courier New"/>
                <a:cs typeface="Courier New"/>
                <a:sym typeface="Courier New"/>
              </a:rPr>
              <a:t>y,k</a:t>
            </a:r>
            <a:r>
              <a:rPr lang="en-GB" sz="1300" b="1">
                <a:latin typeface="Courier New"/>
                <a:ea typeface="Courier New"/>
                <a:cs typeface="Courier New"/>
                <a:sym typeface="Courier New"/>
              </a:rPr>
              <a:t> &amp; </a:t>
            </a:r>
            <a:r>
              <a:rPr lang="en-GB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⍵</a:t>
            </a:r>
            <a:r>
              <a:rPr lang="en-GB" sz="13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𝜃,k</a:t>
            </a:r>
            <a:r>
              <a:rPr lang="en-GB" sz="1300" baseline="-25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00" baseline="-25000"/>
              <a:t> </a:t>
            </a:r>
            <a:r>
              <a:rPr lang="en-GB" sz="1300"/>
              <a:t> : Unmodeled Disturbance.</a:t>
            </a:r>
            <a:endParaRPr sz="13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b="1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-GB" sz="1300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– current robot forward speed (constant over prediction horizon)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Char char="●"/>
            </a:pPr>
            <a:r>
              <a:rPr lang="en-GB" sz="1300" b="1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n-GB" sz="1300" b="1" baseline="-25000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lang="en-GB" sz="1300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– lookahead decision variable at </a:t>
            </a:r>
            <a:r>
              <a:rPr lang="en-GB" sz="1300">
                <a:solidFill>
                  <a:schemeClr val="dk1"/>
                </a:solidFill>
              </a:rPr>
              <a:t>time </a:t>
            </a:r>
            <a:r>
              <a:rPr lang="en-GB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step </a:t>
            </a:r>
            <a:r>
              <a:rPr lang="en-GB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68" name="Google Shape;368;p45" descr="{&quot;aid&quot;:null,&quot;backgroundColorModified&quot;:false,&quot;type&quot;:&quot;gather*&quot;,&quot;id&quot;:&quot;3&quot;,&quot;font&quot;:{&quot;family&quot;:&quot;Arial&quot;,&quot;size&quot;:11.5,&quot;color&quot;:&quot;#000000&quot;},&quot;backgroundColor&quot;:&quot;#FFFFFF&quot;,&quot;code&quot;:&quot;\\begin{gather*}\n{e_{y,k+1}\\,=\\,\\underbrace{e_{y,k}\\,+\\Delta t.v.\\sin e_{\\theta,k}\\,}_{\\mu_{y,k+1}\\,}+\\,w_{y,k}}\\\\\n{e_{\\theta,k+1}\\,=\\,\\underbrace{e_{\\theta,k}\\,+\\,\\Delta t.\\,\\dfrac{2v\\left(-L_{k}\\sin_{\\theta,k}\\,-\\,e_{y,k}\\cos e_{\\theta,k}\\,\\right)}{L_{k}^{2}\\,+\\,e_{y,k}^{2}\\,}}_{\\mu_{\\theta,k+1}}+w_{\\theta,k}}\t\n\\end{gather*}&quot;,&quot;ts&quot;:1780366560843,&quot;cs&quot;:&quot;VnDdgQM7x7oHQh/Q2DZRHA==&quot;,&quot;size&quot;:{&quot;width&quot;:443.59054960629913,&quot;height&quot;:128.30183175853017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7150" y="1599600"/>
            <a:ext cx="4225200" cy="122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5"/>
          <p:cNvSpPr txBox="1"/>
          <p:nvPr/>
        </p:nvSpPr>
        <p:spPr>
          <a:xfrm>
            <a:off x="7063075" y="1927800"/>
            <a:ext cx="7548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(10-11)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0" name="Google Shape;370;p45"/>
          <p:cNvSpPr txBox="1"/>
          <p:nvPr/>
        </p:nvSpPr>
        <p:spPr>
          <a:xfrm>
            <a:off x="7957250" y="1509238"/>
            <a:ext cx="1041900" cy="14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</a:rPr>
              <a:t>Note</a:t>
            </a:r>
            <a:r>
              <a:rPr lang="en-GB" sz="1000">
                <a:solidFill>
                  <a:schemeClr val="dk1"/>
                </a:solidFill>
              </a:rPr>
              <a:t>: Both equations derived are mathematically using equations 8, 9 and 4.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7" name="Google Shape;377;p46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6"/>
          <p:cNvSpPr txBox="1"/>
          <p:nvPr/>
        </p:nvSpPr>
        <p:spPr>
          <a:xfrm>
            <a:off x="360950" y="559975"/>
            <a:ext cx="86976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</a:rPr>
              <a:t>2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800" b="1">
                <a:solidFill>
                  <a:srgbClr val="FF0000"/>
                </a:solidFill>
              </a:rPr>
              <a:t>4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SNMPC‑RPP Controller: Initial Error Covariance</a:t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380" name="Google Shape;380;p46"/>
          <p:cNvSpPr txBox="1"/>
          <p:nvPr/>
        </p:nvSpPr>
        <p:spPr>
          <a:xfrm>
            <a:off x="472450" y="1135375"/>
            <a:ext cx="8420100" cy="3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At time step k, the robot state estimator provides a </a:t>
            </a:r>
            <a:r>
              <a:rPr lang="en-GB" sz="1250">
                <a:solidFill>
                  <a:srgbClr val="0F1115"/>
                </a:solidFill>
              </a:rPr>
              <a:t>3×3</a:t>
            </a:r>
            <a:r>
              <a:rPr lang="en-GB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pose covariance </a:t>
            </a:r>
            <a:r>
              <a:rPr lang="en-GB" sz="12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Σ</a:t>
            </a:r>
            <a:r>
              <a:rPr lang="en-GB" sz="1250" baseline="-25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pose</a:t>
            </a: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in the map frame. We project it to the error state using the following equation:</a:t>
            </a:r>
            <a:b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1" name="Google Shape;381;p46" descr="{&quot;type&quot;:&quot;gather*&quot;,&quot;aid&quot;:null,&quot;backgroundColorModified&quot;:false,&quot;id&quot;:&quot;5&quot;,&quot;backgroundColor&quot;:&quot;#FFFFFF&quot;,&quot;font&quot;:{&quot;family&quot;:&quot;Arial&quot;,&quot;size&quot;:12,&quot;color&quot;:&quot;#0F1115&quot;},&quot;code&quot;:&quot;\\begin{gather*}\n{P_{k}=\\,J_{e}.\\Sigma_{pose}.J_{e}^{T}}\\\\\n{}\\\\\n{J_{e}\\,=\\,\\begin{pmatrix}\n{-\\sin\\theta_{p}}&amp;{\\cos\\theta_{p}}&amp;{0}\\\\\n{0}&amp;{0}&amp;{1}\\\\\n\\end{pmatrix}}\t\n\\end{gather*}&quot;,&quot;ts&quot;:1779650721160,&quot;cs&quot;:&quot;9D1f9Phk+raHQdqWyrUWaQ==&quot;,&quot;size&quot;:{&quot;width&quot;:225.40000000000006,&quot;height&quot;:97.60000000000002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8525" y="1970390"/>
            <a:ext cx="2146935" cy="92964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6"/>
          <p:cNvSpPr txBox="1"/>
          <p:nvPr/>
        </p:nvSpPr>
        <p:spPr>
          <a:xfrm>
            <a:off x="6299250" y="2240375"/>
            <a:ext cx="6243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(12)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83" name="Google Shape;383;p46"/>
          <p:cNvSpPr txBox="1"/>
          <p:nvPr/>
        </p:nvSpPr>
        <p:spPr>
          <a:xfrm>
            <a:off x="6915425" y="1952400"/>
            <a:ext cx="2018100" cy="16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</a:rPr>
              <a:t>Source: </a:t>
            </a:r>
            <a:r>
              <a:rPr lang="en-GB" sz="100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Simon, D. (2006). </a:t>
            </a:r>
            <a:r>
              <a:rPr lang="en-GB" sz="1000" b="1" i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Optimal State Estimation</a:t>
            </a:r>
            <a:r>
              <a:rPr lang="en-GB" sz="100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John Wiley &amp; Sons. (See Chapter 5 on the Discrete-Time Kalman Filter for the covariance propagation equations.)</a:t>
            </a:r>
            <a:endParaRPr sz="1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0" name="Google Shape;390;p47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7"/>
          <p:cNvSpPr txBox="1"/>
          <p:nvPr/>
        </p:nvSpPr>
        <p:spPr>
          <a:xfrm>
            <a:off x="360950" y="559975"/>
            <a:ext cx="86976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</a:rPr>
              <a:t>2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800" b="1">
                <a:solidFill>
                  <a:srgbClr val="FF0000"/>
                </a:solidFill>
              </a:rPr>
              <a:t>5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SNMPC‑RPP Controller: Process Noise Covariance </a:t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393" name="Google Shape;393;p47"/>
          <p:cNvSpPr txBox="1"/>
          <p:nvPr/>
        </p:nvSpPr>
        <p:spPr>
          <a:xfrm>
            <a:off x="472450" y="1135375"/>
            <a:ext cx="8420100" cy="3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Unmodeled Disturbances / Process Noises (</a:t>
            </a:r>
            <a:r>
              <a:rPr lang="en-GB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wheel slip, floor irregularities – </a:t>
            </a:r>
            <a:r>
              <a:rPr lang="en-GB" b="1">
                <a:solidFill>
                  <a:schemeClr val="dk1"/>
                </a:solidFill>
              </a:rPr>
              <a:t>⍵</a:t>
            </a:r>
            <a:r>
              <a:rPr lang="en-GB" b="1" baseline="-25000">
                <a:solidFill>
                  <a:schemeClr val="dk1"/>
                </a:solidFill>
              </a:rPr>
              <a:t>y,k</a:t>
            </a:r>
            <a:r>
              <a:rPr lang="en-GB" b="1">
                <a:solidFill>
                  <a:schemeClr val="dk1"/>
                </a:solidFill>
              </a:rPr>
              <a:t> &amp; ⍵</a:t>
            </a:r>
            <a:r>
              <a:rPr lang="en-GB" b="1" baseline="-25000">
                <a:solidFill>
                  <a:schemeClr val="dk1"/>
                </a:solidFill>
              </a:rPr>
              <a:t>𝜃,k</a:t>
            </a:r>
            <a:r>
              <a:rPr lang="en-GB">
                <a:solidFill>
                  <a:schemeClr val="dk1"/>
                </a:solidFill>
              </a:rPr>
              <a:t>) are assumed to follow Gaussian Normal Distribution whose means are assumed to be equal to zero.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lang="en-GB" b="1">
                <a:solidFill>
                  <a:schemeClr val="dk1"/>
                </a:solidFill>
              </a:rPr>
              <a:t>covariance matrix </a:t>
            </a:r>
            <a:r>
              <a:rPr lang="en-GB">
                <a:solidFill>
                  <a:schemeClr val="dk1"/>
                </a:solidFill>
              </a:rPr>
              <a:t>for both the process noises calculated at each time step (Δt = 0.1s) is given as 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σ</a:t>
            </a:r>
            <a:r>
              <a:rPr lang="en-GB" b="1" baseline="-25000">
                <a:solidFill>
                  <a:schemeClr val="dk1"/>
                </a:solidFill>
              </a:rPr>
              <a:t>y</a:t>
            </a:r>
            <a:r>
              <a:rPr lang="en-GB"/>
              <a:t> : Standard Deviation of the Process Noise for Lateral Error  </a:t>
            </a:r>
            <a:r>
              <a:rPr lang="en-GB" b="1"/>
              <a:t> 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σ</a:t>
            </a:r>
            <a:r>
              <a:rPr lang="en-GB" b="1" baseline="-25000">
                <a:solidFill>
                  <a:schemeClr val="dk1"/>
                </a:solidFill>
              </a:rPr>
              <a:t>𝜃</a:t>
            </a:r>
            <a:r>
              <a:rPr lang="en-GB"/>
              <a:t> : </a:t>
            </a:r>
            <a:r>
              <a:rPr lang="en-GB">
                <a:solidFill>
                  <a:schemeClr val="dk1"/>
                </a:solidFill>
              </a:rPr>
              <a:t>Standard Deviation of the Process Noise for Heading Error  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For simulations,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 b="1">
                <a:solidFill>
                  <a:schemeClr val="dk1"/>
                </a:solidFill>
              </a:rPr>
              <a:t>σ</a:t>
            </a:r>
            <a:r>
              <a:rPr lang="en-GB" b="1" baseline="-25000">
                <a:solidFill>
                  <a:schemeClr val="dk1"/>
                </a:solidFill>
              </a:rPr>
              <a:t>y</a:t>
            </a:r>
            <a:r>
              <a:rPr lang="en-GB" b="1">
                <a:solidFill>
                  <a:schemeClr val="dk1"/>
                </a:solidFill>
              </a:rPr>
              <a:t> = 0.003 m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lang="en-GB" b="1">
                <a:solidFill>
                  <a:schemeClr val="dk1"/>
                </a:solidFill>
              </a:rPr>
              <a:t>σ</a:t>
            </a:r>
            <a:r>
              <a:rPr lang="en-GB" b="1" baseline="-25000">
                <a:solidFill>
                  <a:schemeClr val="dk1"/>
                </a:solidFill>
              </a:rPr>
              <a:t>𝜃</a:t>
            </a:r>
            <a:r>
              <a:rPr lang="en-GB" b="1">
                <a:solidFill>
                  <a:schemeClr val="dk1"/>
                </a:solidFill>
              </a:rPr>
              <a:t> = 0.03 radian</a:t>
            </a:r>
            <a:endParaRPr/>
          </a:p>
        </p:txBody>
      </p:sp>
      <p:pic>
        <p:nvPicPr>
          <p:cNvPr id="394" name="Google Shape;394;p47" descr="{&quot;code&quot;:&quot;$$Q_{w}\\,=\\,\\,\\Delta t.\\begin{bmatrix}\n{\\sigma_{y}^{2}}&amp;{0}\\\\\n{0}&amp;{\\sigma_{\\theta}^{2}}\\\\\n\\end{bmatrix}\\,\\,\\,\\,\\,\\,\\,\\,\\,\\,\\,\\,\\,\\,\\left(13\\right)$$&quot;,&quot;backgroundColorModified&quot;:false,&quot;aid&quot;:null,&quot;type&quot;:&quot;$$&quot;,&quot;id&quot;:&quot;4&quot;,&quot;font&quot;:{&quot;size&quot;:15,&quot;family&quot;:&quot;Arial&quot;,&quot;color&quot;:&quot;#000000&quot;},&quot;backgroundColor&quot;:&quot;#FFFFFF&quot;,&quot;ts&quot;:1780366665033,&quot;cs&quot;:&quot;wpgQkoBWAZq4FFYd8uFbmA==&quot;,&quot;size&quot;:{&quot;width&quot;:309.25,&quot;height&quot;:70.5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5150" y="2488320"/>
            <a:ext cx="2945606" cy="67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7"/>
          <p:cNvSpPr txBox="1"/>
          <p:nvPr/>
        </p:nvSpPr>
        <p:spPr>
          <a:xfrm>
            <a:off x="6332975" y="2323375"/>
            <a:ext cx="2616900" cy="10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Source : Kloeden, P. E., &amp; Platen, E. (1992). </a:t>
            </a:r>
            <a:r>
              <a:rPr lang="en-GB" sz="1000" b="1" i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Numerical Solution of Stochastic Differential Equations</a:t>
            </a:r>
            <a:r>
              <a:rPr lang="en-GB" sz="100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Springer‑Verlag.</a:t>
            </a:r>
            <a:endParaRPr sz="1000" b="1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(Chapter 9, "Euler–Maruyama Method", gives the general discretization framework.)</a:t>
            </a:r>
            <a:endParaRPr sz="1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2" name="Google Shape;402;p48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8"/>
          <p:cNvSpPr txBox="1"/>
          <p:nvPr/>
        </p:nvSpPr>
        <p:spPr>
          <a:xfrm>
            <a:off x="360950" y="559975"/>
            <a:ext cx="86976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</a:rPr>
              <a:t>2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800" b="1">
                <a:solidFill>
                  <a:srgbClr val="FF0000"/>
                </a:solidFill>
              </a:rPr>
              <a:t>6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SNMPC‑RPP Controller: Error Covariance Propagation</a:t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05" name="Google Shape;405;p48"/>
          <p:cNvSpPr txBox="1"/>
          <p:nvPr/>
        </p:nvSpPr>
        <p:spPr>
          <a:xfrm>
            <a:off x="472450" y="1135375"/>
            <a:ext cx="8420100" cy="3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initial error covariance at time step k, is propagated through the future prediction steps using the following equation:</a:t>
            </a:r>
            <a:b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48"/>
          <p:cNvSpPr txBox="1"/>
          <p:nvPr/>
        </p:nvSpPr>
        <p:spPr>
          <a:xfrm>
            <a:off x="6274950" y="1866925"/>
            <a:ext cx="12549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…(14)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407" name="Google Shape;407;p48" descr="{&quot;font&quot;:{&quot;color&quot;:&quot;#000000&quot;,&quot;size&quot;:10,&quot;family&quot;:&quot;Arial&quot;},&quot;id&quot;:&quot;6&quot;,&quot;aid&quot;:null,&quot;type&quot;:&quot;gather*&quot;,&quot;code&quot;:&quot;\\begin{gather*}\n{P_{k+1}\\,=\\,F_{k}.\\,P_{k}\\,.\\,\\,F_{k}^{T}\\,+\\,Q_{w}}\\\\\n{}\\\\\n{F_{k}\\,=\\,\\begin{bmatrix}\n{\\diff{\\mu_{y,k+1}}{\\mu_{y,k}}}&amp;{\\diff{\\mu_{y,k+1}}{\\mu_{\\theta,k}}}\\\\\n{\\diff{\\mu_{\\theta,k+1}}{\\mu_{y,k}}}&amp;{\\diff{\\mu_{\\theta,k+1}}{\\mu_{\\theta,k}}}\\\\\n\\end{bmatrix}}\\\\\n{}\\\\\n{F_{k}\\,=\\,\\begin{bmatrix}\n{1}&amp;{\\Delta t.v.\\cos \\mu_{\\theta ,k}}\\\\\n{\\Delta t.2v.\\dfrac{-\\cos \\mu_{\\theta.k}\\,\\left(L_{k}^{2}\\,+\\,\\mu_{y,k}^{2}\\right)\\,+\\,2.\\mu_{y,k}^{}.\\left(L_{k}\\sin \\mu_{\\theta.k}\\,+\\,\\mu_{y,k}^{}\\cos \\mu_{\\theta.k}\\right)}{L_{k}^{2}\\,+\\,\\mu_{y,k}^{2}}}&amp;{1+\\,\\dfrac{2v\\Delta t.\\left(-L_{k}\\cos \\mu_{\\theta.k}\\,+\\,\\mu_{y,k}\\sin \\mu_{\\theta.k}\\right)}{L_{k}^{2}\\,+\\,\\mu_{y,k}^{2}}}\\\\\n\\end{bmatrix}}\t\n\\end{gather*}&quot;,&quot;backgroundColor&quot;:&quot;#FFFFFF&quot;,&quot;backgroundColorModified&quot;:false,&quot;ts&quot;:1780368194462,&quot;cs&quot;:&quot;gwarpRHDo+04aKsJP6/GFw==&quot;,&quot;size&quot;:{&quot;width&quot;:804,&quot;height&quot;:201.5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034" y="1942057"/>
            <a:ext cx="7658100" cy="1919288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8"/>
          <p:cNvSpPr txBox="1"/>
          <p:nvPr/>
        </p:nvSpPr>
        <p:spPr>
          <a:xfrm>
            <a:off x="6274950" y="2376900"/>
            <a:ext cx="12549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…(15)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09" name="Google Shape;409;p48"/>
          <p:cNvSpPr txBox="1"/>
          <p:nvPr/>
        </p:nvSpPr>
        <p:spPr>
          <a:xfrm>
            <a:off x="7803650" y="3390650"/>
            <a:ext cx="12549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…(16)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10" name="Google Shape;410;p48"/>
          <p:cNvSpPr txBox="1"/>
          <p:nvPr/>
        </p:nvSpPr>
        <p:spPr>
          <a:xfrm>
            <a:off x="7686550" y="1812950"/>
            <a:ext cx="12549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</a:rPr>
              <a:t>Source: </a:t>
            </a:r>
            <a:r>
              <a:rPr lang="en-GB" sz="10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Maybeck, P. S. (1979). </a:t>
            </a:r>
            <a:r>
              <a:rPr lang="en-GB" sz="1000" b="1" i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Stochastic Models, Estimation, and Control, Volume 1</a:t>
            </a:r>
            <a:r>
              <a:rPr lang="en-GB" sz="10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Academic Press.</a:t>
            </a:r>
            <a:endParaRPr sz="10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7" name="Google Shape;417;p49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9"/>
          <p:cNvSpPr txBox="1"/>
          <p:nvPr/>
        </p:nvSpPr>
        <p:spPr>
          <a:xfrm>
            <a:off x="303527" y="477941"/>
            <a:ext cx="67185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</a:rPr>
              <a:t>2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800" b="1">
                <a:solidFill>
                  <a:srgbClr val="FF0000"/>
                </a:solidFill>
              </a:rPr>
              <a:t>7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SNMPC‑RPP Controller: Cost Function</a:t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20" name="Google Shape;420;p49"/>
          <p:cNvSpPr txBox="1"/>
          <p:nvPr/>
        </p:nvSpPr>
        <p:spPr>
          <a:xfrm>
            <a:off x="209952" y="845467"/>
            <a:ext cx="84201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solidFill>
                  <a:srgbClr val="0F1115"/>
                </a:solidFill>
                <a:highlight>
                  <a:schemeClr val="lt1"/>
                </a:highlight>
              </a:rPr>
              <a:t>The </a:t>
            </a:r>
            <a:r>
              <a:rPr lang="en-GB" sz="1100" b="1">
                <a:solidFill>
                  <a:srgbClr val="0F1115"/>
                </a:solidFill>
                <a:highlight>
                  <a:schemeClr val="lt1"/>
                </a:highlight>
              </a:rPr>
              <a:t>final optimal sequence</a:t>
            </a:r>
            <a:r>
              <a:rPr lang="en-GB" sz="1100" b="1">
                <a:solidFill>
                  <a:srgbClr val="0F1115"/>
                </a:solidFill>
                <a:highlight>
                  <a:srgbClr val="FFFFFF"/>
                </a:highlight>
              </a:rPr>
              <a:t> of N Lookahead Distances</a:t>
            </a:r>
            <a:r>
              <a:rPr lang="en-GB" sz="1100">
                <a:solidFill>
                  <a:srgbClr val="0F1115"/>
                </a:solidFill>
                <a:highlight>
                  <a:srgbClr val="FFFFFF"/>
                </a:highlight>
              </a:rPr>
              <a:t> (one for each prediction step) </a:t>
            </a:r>
            <a:r>
              <a:rPr lang="en-GB" sz="1100" b="1">
                <a:solidFill>
                  <a:srgbClr val="0F1115"/>
                </a:solidFill>
                <a:highlight>
                  <a:srgbClr val="FFFFFF"/>
                </a:highlight>
              </a:rPr>
              <a:t>L = [L</a:t>
            </a:r>
            <a:r>
              <a:rPr lang="en-GB" sz="1100" b="1" baseline="-25000">
                <a:solidFill>
                  <a:srgbClr val="0F1115"/>
                </a:solidFill>
                <a:highlight>
                  <a:srgbClr val="FFFFFF"/>
                </a:highlight>
              </a:rPr>
              <a:t>0</a:t>
            </a:r>
            <a:r>
              <a:rPr lang="en-GB" sz="1100" b="1">
                <a:solidFill>
                  <a:srgbClr val="0F1115"/>
                </a:solidFill>
                <a:highlight>
                  <a:srgbClr val="FFFFFF"/>
                </a:highlight>
              </a:rPr>
              <a:t>, L</a:t>
            </a:r>
            <a:r>
              <a:rPr lang="en-GB" sz="1100" b="1" baseline="-25000">
                <a:solidFill>
                  <a:srgbClr val="0F1115"/>
                </a:solidFill>
                <a:highlight>
                  <a:srgbClr val="FFFFFF"/>
                </a:highlight>
              </a:rPr>
              <a:t>1</a:t>
            </a:r>
            <a:r>
              <a:rPr lang="en-GB" sz="1100" b="1">
                <a:solidFill>
                  <a:srgbClr val="0F1115"/>
                </a:solidFill>
                <a:highlight>
                  <a:srgbClr val="FFFFFF"/>
                </a:highlight>
              </a:rPr>
              <a:t>, L</a:t>
            </a:r>
            <a:r>
              <a:rPr lang="en-GB" sz="1100" b="1" baseline="-25000">
                <a:solidFill>
                  <a:srgbClr val="0F1115"/>
                </a:solidFill>
                <a:highlight>
                  <a:srgbClr val="FFFFFF"/>
                </a:highlight>
              </a:rPr>
              <a:t>2</a:t>
            </a:r>
            <a:r>
              <a:rPr lang="en-GB" sz="1100" b="1"/>
              <a:t>,....,L</a:t>
            </a:r>
            <a:r>
              <a:rPr lang="en-GB" sz="1100" b="1" baseline="-25000"/>
              <a:t>N-1</a:t>
            </a:r>
            <a:r>
              <a:rPr lang="en-GB" sz="1100" b="1">
                <a:solidFill>
                  <a:srgbClr val="0F1115"/>
                </a:solidFill>
                <a:highlight>
                  <a:srgbClr val="FFFFFF"/>
                </a:highlight>
              </a:rPr>
              <a:t>]</a:t>
            </a:r>
            <a:r>
              <a:rPr lang="en-GB" sz="1100">
                <a:solidFill>
                  <a:srgbClr val="0F1115"/>
                </a:solidFill>
                <a:highlight>
                  <a:srgbClr val="FFFFFF"/>
                </a:highlight>
              </a:rPr>
              <a:t>, chosen by the optimization algorithm must produce the least possible (minimum) estimated of the below given cost function :</a:t>
            </a:r>
            <a:endParaRPr sz="11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Char char="●"/>
            </a:pPr>
            <a:r>
              <a:rPr lang="en-GB" sz="1100" b="1">
                <a:solidFill>
                  <a:srgbClr val="0F1115"/>
                </a:solidFill>
                <a:highlight>
                  <a:srgbClr val="FFFFFF"/>
                </a:highlight>
              </a:rPr>
              <a:t>μ</a:t>
            </a:r>
            <a:r>
              <a:rPr lang="en-GB" sz="1100" b="1" baseline="-25000">
                <a:solidFill>
                  <a:srgbClr val="0F1115"/>
                </a:solidFill>
                <a:highlight>
                  <a:srgbClr val="FFFFFF"/>
                </a:highlight>
              </a:rPr>
              <a:t>k</a:t>
            </a:r>
            <a:r>
              <a:rPr lang="en-GB" sz="1100"/>
              <a:t> = [</a:t>
            </a:r>
            <a:r>
              <a:rPr lang="en-GB" sz="1100" b="1">
                <a:solidFill>
                  <a:srgbClr val="0F1115"/>
                </a:solidFill>
                <a:highlight>
                  <a:schemeClr val="lt1"/>
                </a:highlight>
              </a:rPr>
              <a:t>μ</a:t>
            </a:r>
            <a:r>
              <a:rPr lang="en-GB" sz="1100" b="1" baseline="-25000">
                <a:solidFill>
                  <a:srgbClr val="0F1115"/>
                </a:solidFill>
                <a:highlight>
                  <a:schemeClr val="lt1"/>
                </a:highlight>
              </a:rPr>
              <a:t>y,k</a:t>
            </a:r>
            <a:r>
              <a:rPr lang="en-GB" sz="1100"/>
              <a:t>, </a:t>
            </a:r>
            <a:r>
              <a:rPr lang="en-GB" sz="1100" b="1">
                <a:solidFill>
                  <a:srgbClr val="0F1115"/>
                </a:solidFill>
                <a:highlight>
                  <a:schemeClr val="lt1"/>
                </a:highlight>
              </a:rPr>
              <a:t>μ</a:t>
            </a:r>
            <a:r>
              <a:rPr lang="en-GB" sz="1100" b="1" baseline="-25000">
                <a:solidFill>
                  <a:srgbClr val="0F1115"/>
                </a:solidFill>
                <a:highlight>
                  <a:schemeClr val="lt1"/>
                </a:highlight>
              </a:rPr>
              <a:t>𝜃,k</a:t>
            </a:r>
            <a:r>
              <a:rPr lang="en-GB" sz="1100"/>
              <a:t>]</a:t>
            </a:r>
            <a:r>
              <a:rPr lang="en-GB" sz="1100" baseline="30000"/>
              <a:t>T</a:t>
            </a:r>
            <a:r>
              <a:rPr lang="en-GB" sz="1100"/>
              <a:t>  = Deterministic Predicted Errors (Lateral &amp; Heading) at time step k.   </a:t>
            </a:r>
            <a:endParaRPr sz="1100"/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/>
              <a:t>Q</a:t>
            </a:r>
            <a:r>
              <a:rPr lang="en-GB" sz="1100"/>
              <a:t> = diag [q</a:t>
            </a:r>
            <a:r>
              <a:rPr lang="en-GB" sz="1100" baseline="-25000"/>
              <a:t>y</a:t>
            </a:r>
            <a:r>
              <a:rPr lang="en-GB" sz="1100"/>
              <a:t>, </a:t>
            </a:r>
            <a:r>
              <a:rPr lang="en-GB" sz="1100">
                <a:solidFill>
                  <a:schemeClr val="dk1"/>
                </a:solidFill>
              </a:rPr>
              <a:t>q</a:t>
            </a:r>
            <a:r>
              <a:rPr lang="en-GB" sz="1100" baseline="-25000">
                <a:solidFill>
                  <a:schemeClr val="dk1"/>
                </a:solidFill>
              </a:rPr>
              <a:t>𝜃</a:t>
            </a:r>
            <a:r>
              <a:rPr lang="en-GB" sz="1100"/>
              <a:t>] = Penalty weights – penalises </a:t>
            </a:r>
            <a:r>
              <a:rPr lang="en-GB" sz="1100">
                <a:solidFill>
                  <a:schemeClr val="dk1"/>
                </a:solidFill>
              </a:rPr>
              <a:t>both errors as well as error covariances.  </a:t>
            </a:r>
            <a:r>
              <a:rPr lang="en-GB" sz="1100" b="1">
                <a:solidFill>
                  <a:schemeClr val="dk1"/>
                </a:solidFill>
              </a:rPr>
              <a:t>For simulations, (q</a:t>
            </a:r>
            <a:r>
              <a:rPr lang="en-GB" sz="1100" b="1" baseline="-25000">
                <a:solidFill>
                  <a:schemeClr val="dk1"/>
                </a:solidFill>
              </a:rPr>
              <a:t>y</a:t>
            </a:r>
            <a:r>
              <a:rPr lang="en-GB" sz="1100" b="1">
                <a:solidFill>
                  <a:schemeClr val="dk1"/>
                </a:solidFill>
              </a:rPr>
              <a:t>, q</a:t>
            </a:r>
            <a:r>
              <a:rPr lang="en-GB" sz="1100" b="1" baseline="-25000">
                <a:solidFill>
                  <a:schemeClr val="dk1"/>
                </a:solidFill>
              </a:rPr>
              <a:t>𝜃</a:t>
            </a:r>
            <a:r>
              <a:rPr lang="en-GB" sz="1100" b="1">
                <a:solidFill>
                  <a:schemeClr val="dk1"/>
                </a:solidFill>
              </a:rPr>
              <a:t>) = (10,5).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P</a:t>
            </a:r>
            <a:r>
              <a:rPr lang="en-GB" sz="1100" b="1" baseline="-25000">
                <a:solidFill>
                  <a:schemeClr val="dk1"/>
                </a:solidFill>
              </a:rPr>
              <a:t>k</a:t>
            </a:r>
            <a:r>
              <a:rPr lang="en-GB" sz="1100">
                <a:solidFill>
                  <a:schemeClr val="dk1"/>
                </a:solidFill>
              </a:rPr>
              <a:t> = Error Covariance Propagation at time step k.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L</a:t>
            </a:r>
            <a:r>
              <a:rPr lang="en-GB" sz="1100" b="1" baseline="-25000">
                <a:solidFill>
                  <a:schemeClr val="dk1"/>
                </a:solidFill>
              </a:rPr>
              <a:t>k</a:t>
            </a:r>
            <a:r>
              <a:rPr lang="en-GB" sz="1100"/>
              <a:t> = Lookahead Distance at time step k.</a:t>
            </a:r>
            <a:endParaRPr sz="1100"/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/>
              <a:t>r</a:t>
            </a:r>
            <a:r>
              <a:rPr lang="en-GB" sz="1100" b="1" baseline="-25000"/>
              <a:t>𝚫 </a:t>
            </a:r>
            <a:r>
              <a:rPr lang="en-GB" sz="1100"/>
              <a:t>= Penalty weight for Lookahead Distance change – </a:t>
            </a:r>
            <a:r>
              <a:rPr lang="en-GB" sz="11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discourages abrupt step‑to‑step changes in lookahead, preventing oscillatory control. </a:t>
            </a:r>
            <a:r>
              <a:rPr lang="en-GB" sz="1100" b="1">
                <a:solidFill>
                  <a:schemeClr val="dk1"/>
                </a:solidFill>
              </a:rPr>
              <a:t>For simulations, r</a:t>
            </a:r>
            <a:r>
              <a:rPr lang="en-GB" sz="1100" b="1" baseline="-25000">
                <a:solidFill>
                  <a:schemeClr val="dk1"/>
                </a:solidFill>
              </a:rPr>
              <a:t>𝚫</a:t>
            </a:r>
            <a:r>
              <a:rPr lang="en-GB" sz="1100" b="1"/>
              <a:t> = 0.1.</a:t>
            </a:r>
            <a:endParaRPr sz="1100" b="1"/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L</a:t>
            </a:r>
            <a:r>
              <a:rPr lang="en-GB" sz="1100" b="1" baseline="-25000">
                <a:solidFill>
                  <a:schemeClr val="dk1"/>
                </a:solidFill>
              </a:rPr>
              <a:t>nom</a:t>
            </a:r>
            <a:r>
              <a:rPr lang="en-GB">
                <a:solidFill>
                  <a:schemeClr val="dk1"/>
                </a:solidFill>
              </a:rPr>
              <a:t> = </a:t>
            </a:r>
            <a:r>
              <a:rPr lang="en-GB" sz="1100">
                <a:solidFill>
                  <a:schemeClr val="dk1"/>
                </a:solidFill>
              </a:rPr>
              <a:t>Nominal Lookahead Distance as suggested by the baseline RPP algorithm</a:t>
            </a:r>
            <a:r>
              <a:rPr lang="en-GB">
                <a:solidFill>
                  <a:schemeClr val="dk1"/>
                </a:solidFill>
              </a:rPr>
              <a:t>.</a:t>
            </a:r>
            <a:endParaRPr sz="1100"/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/>
              <a:t>r</a:t>
            </a:r>
            <a:r>
              <a:rPr lang="en-GB" sz="1100" b="1" baseline="-25000"/>
              <a:t>nom</a:t>
            </a:r>
            <a:r>
              <a:rPr lang="en-GB" sz="1100" b="1"/>
              <a:t> </a:t>
            </a:r>
            <a:r>
              <a:rPr lang="en-GB"/>
              <a:t>= </a:t>
            </a:r>
            <a:r>
              <a:rPr lang="en-GB" sz="1100">
                <a:solidFill>
                  <a:schemeClr val="dk1"/>
                </a:solidFill>
              </a:rPr>
              <a:t>Penalty weight for deviating from the </a:t>
            </a:r>
            <a:r>
              <a:rPr lang="en-GB" sz="1100"/>
              <a:t>Nominal Lookahead Distance – </a:t>
            </a:r>
            <a:r>
              <a:rPr lang="en-GB" sz="11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When tracking errors and uncertainty are small</a:t>
            </a:r>
            <a:r>
              <a:rPr lang="en-GB" sz="1100"/>
              <a:t>. </a:t>
            </a:r>
            <a:endParaRPr sz="1100"/>
          </a:p>
          <a:p>
            <a:pPr marL="457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</a:t>
            </a:r>
            <a:r>
              <a:rPr lang="en-GB" sz="1100" b="1">
                <a:solidFill>
                  <a:schemeClr val="dk1"/>
                </a:solidFill>
              </a:rPr>
              <a:t>For simulations, r</a:t>
            </a:r>
            <a:r>
              <a:rPr lang="en-GB" sz="1100" b="1" baseline="-25000">
                <a:solidFill>
                  <a:schemeClr val="dk1"/>
                </a:solidFill>
              </a:rPr>
              <a:t>nom</a:t>
            </a:r>
            <a:r>
              <a:rPr lang="en-GB" sz="1100" b="1">
                <a:solidFill>
                  <a:schemeClr val="dk1"/>
                </a:solidFill>
              </a:rPr>
              <a:t>  = 1.0.</a:t>
            </a: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  <p:pic>
        <p:nvPicPr>
          <p:cNvPr id="421" name="Google Shape;421;p49" descr="{&quot;code&quot;:&quot;\\begin{gather*}\n{J\\left(L\\right)\\,=\\,\\sum_{k\\,=\\,0}^{N-1}\\left[\\underbrace{\\mu_{k}^{T}.Q.\\mu_{k}\\,}_{Tracking\\,Error\\,Cost\\,}+\\,\\underbrace{diag\\left(Q.P_{k}\\right)\\,}_{Covariance\\,Cost}+\\,\\underbrace{r_{\\Delta}\\left(L_{k}\\,-\\,L_{k-1}\\right)^{2}}_{Lookahead\\,Distance\\,Change\\,Cost}+\\,\\underbrace{r_{nom}\\left(L_{k}\\,-\\,L_{nom}\\right)^{2}}_{Cost\\,for\\,Deviation\\,of\\,Lookahead\\,Distance\\,from\\,Nominal\\,Value\\,}\\right]\\,}\\\\\n{}\\\\\n{\\,+\\,\\underbrace{\\mu_{N}^{T}.Q.\\mu_{N}\\,+\\,diag\\left(Q.P_{N}\\right)}_{Terminal\\,State\\,Cost}}\t\n\\end{gather*}&quot;,&quot;font&quot;:{&quot;size&quot;:10,&quot;family&quot;:&quot;Arial&quot;,&quot;color&quot;:&quot;#0F1115&quot;},&quot;id&quot;:&quot;7&quot;,&quot;aid&quot;:null,&quot;type&quot;:&quot;gather*&quot;,&quot;backgroundColorModified&quot;:false,&quot;backgroundColor&quot;:&quot;#FFFFFF&quot;,&quot;ts&quot;:1779670322123,&quot;cs&quot;:&quot;TsOoX9ZbmYMbl2+etAaikw==&quot;,&quot;size&quot;:{&quot;width&quot;:845,&quot;height&quot;:128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682" y="1352541"/>
            <a:ext cx="8048625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9"/>
          <p:cNvSpPr txBox="1"/>
          <p:nvPr/>
        </p:nvSpPr>
        <p:spPr>
          <a:xfrm>
            <a:off x="7300400" y="2182051"/>
            <a:ext cx="12549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…(17)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9" name="Google Shape;429;p50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0"/>
          <p:cNvSpPr txBox="1"/>
          <p:nvPr/>
        </p:nvSpPr>
        <p:spPr>
          <a:xfrm>
            <a:off x="303525" y="551780"/>
            <a:ext cx="79080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</a:rPr>
              <a:t>2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800" b="1">
                <a:solidFill>
                  <a:srgbClr val="FF0000"/>
                </a:solidFill>
              </a:rPr>
              <a:t>8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SNMPC‑RPP Controller: Chance Constraints (Safety Guarantees)</a:t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32" name="Google Shape;432;p50"/>
          <p:cNvSpPr txBox="1"/>
          <p:nvPr/>
        </p:nvSpPr>
        <p:spPr>
          <a:xfrm>
            <a:off x="300658" y="968049"/>
            <a:ext cx="8416800" cy="3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The SNMPC enforces probabilistic bounds on lateral error </a:t>
            </a:r>
            <a:r>
              <a:rPr lang="en-GB" sz="1200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GB" sz="1200" b="1" baseline="-250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GB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 and heading error </a:t>
            </a:r>
            <a:r>
              <a:rPr lang="en-GB" sz="1200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GB" sz="1200" b="1" baseline="-250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𝜃</a:t>
            </a:r>
            <a:r>
              <a:rPr lang="en-GB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 at each predicted step 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k = 1, …, N (</a:t>
            </a: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 starts at 1 because the current state is measured, not predicted)</a:t>
            </a:r>
            <a:r>
              <a:rPr lang="en-GB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.  This ensures that, despite uncertainty, the robot stays within safe limits with high probability.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each prediction step k, the final lookahead distance sequence chosen by the algorithm must satisfy the below two conditions</a:t>
            </a: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b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0F1115"/>
              </a:solidFill>
              <a:highlight>
                <a:schemeClr val="lt1"/>
              </a:highlight>
            </a:endParaRPr>
          </a:p>
          <a:p>
            <a:pPr marL="4572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>
                <a:solidFill>
                  <a:srgbClr val="0F1115"/>
                </a:solidFill>
                <a:highlight>
                  <a:schemeClr val="lt1"/>
                </a:highlight>
              </a:rPr>
              <a:t>μ</a:t>
            </a:r>
            <a:r>
              <a:rPr lang="en-GB" sz="1200" b="1" baseline="-25000">
                <a:solidFill>
                  <a:srgbClr val="0F1115"/>
                </a:solidFill>
                <a:highlight>
                  <a:schemeClr val="lt1"/>
                </a:highlight>
              </a:rPr>
              <a:t>y,k</a:t>
            </a:r>
            <a:r>
              <a:rPr lang="en-GB" sz="1200">
                <a:solidFill>
                  <a:schemeClr val="dk1"/>
                </a:solidFill>
              </a:rPr>
              <a:t>, </a:t>
            </a:r>
            <a:r>
              <a:rPr lang="en-GB" sz="1200" b="1">
                <a:solidFill>
                  <a:srgbClr val="0F1115"/>
                </a:solidFill>
                <a:highlight>
                  <a:schemeClr val="lt1"/>
                </a:highlight>
              </a:rPr>
              <a:t>μ</a:t>
            </a:r>
            <a:r>
              <a:rPr lang="en-GB" sz="1200" b="1" baseline="-25000">
                <a:solidFill>
                  <a:srgbClr val="0F1115"/>
                </a:solidFill>
                <a:highlight>
                  <a:schemeClr val="lt1"/>
                </a:highlight>
              </a:rPr>
              <a:t>𝜃,k</a:t>
            </a:r>
            <a:r>
              <a:rPr lang="en-GB" sz="1200"/>
              <a:t> = </a:t>
            </a:r>
            <a:r>
              <a:rPr lang="en-GB" sz="1200">
                <a:solidFill>
                  <a:schemeClr val="dk1"/>
                </a:solidFill>
              </a:rPr>
              <a:t>Deterministic Predicted Errors (Lateral &amp; Heading) at time step k </a:t>
            </a:r>
            <a:endParaRPr sz="12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>
                <a:solidFill>
                  <a:srgbClr val="0F1115"/>
                </a:solidFill>
                <a:highlight>
                  <a:schemeClr val="lt1"/>
                </a:highlight>
              </a:rPr>
              <a:t>P</a:t>
            </a:r>
            <a:r>
              <a:rPr lang="en-GB" sz="1100" b="1" baseline="-25000">
                <a:solidFill>
                  <a:srgbClr val="0F1115"/>
                </a:solidFill>
                <a:highlight>
                  <a:schemeClr val="lt1"/>
                </a:highlight>
              </a:rPr>
              <a:t>y,y</a:t>
            </a:r>
            <a:r>
              <a:rPr lang="en-GB" sz="1100">
                <a:solidFill>
                  <a:schemeClr val="dk1"/>
                </a:solidFill>
              </a:rPr>
              <a:t>, </a:t>
            </a:r>
            <a:r>
              <a:rPr lang="en-GB" sz="1100" b="1">
                <a:solidFill>
                  <a:srgbClr val="0F1115"/>
                </a:solidFill>
                <a:highlight>
                  <a:schemeClr val="lt1"/>
                </a:highlight>
              </a:rPr>
              <a:t>P</a:t>
            </a:r>
            <a:r>
              <a:rPr lang="en-GB" sz="1100" b="1" baseline="-25000">
                <a:solidFill>
                  <a:srgbClr val="0F1115"/>
                </a:solidFill>
                <a:highlight>
                  <a:schemeClr val="lt1"/>
                </a:highlight>
              </a:rPr>
              <a:t>𝜃,𝜃</a:t>
            </a:r>
            <a:r>
              <a:rPr lang="en-GB"/>
              <a:t> = </a:t>
            </a: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Corresponding diagonal entries of predicted covariance P</a:t>
            </a:r>
            <a:r>
              <a:rPr lang="en-GB" sz="1200" baseline="-25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-GB"/>
              <a:t>.</a:t>
            </a:r>
            <a:endParaRPr/>
          </a:p>
          <a:p>
            <a:pPr marL="4572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>
                <a:solidFill>
                  <a:schemeClr val="dk1"/>
                </a:solidFill>
              </a:rPr>
              <a:t>η</a:t>
            </a:r>
            <a:r>
              <a:rPr lang="en-GB" sz="1200" b="1" baseline="-25000">
                <a:solidFill>
                  <a:schemeClr val="dk1"/>
                </a:solidFill>
              </a:rPr>
              <a:t>y</a:t>
            </a:r>
            <a:r>
              <a:rPr lang="en-GB" sz="1200" b="1"/>
              <a:t>, η</a:t>
            </a:r>
            <a:r>
              <a:rPr lang="en-GB" sz="1200" b="1" baseline="-25000"/>
              <a:t>𝜃</a:t>
            </a:r>
            <a:r>
              <a:rPr lang="en-GB"/>
              <a:t> = </a:t>
            </a: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Confidence Multipliers.  </a:t>
            </a:r>
            <a:r>
              <a:rPr lang="en-GB" sz="1200" b="1">
                <a:solidFill>
                  <a:schemeClr val="dk1"/>
                </a:solidFill>
              </a:rPr>
              <a:t>For simulations, η</a:t>
            </a:r>
            <a:r>
              <a:rPr lang="en-GB" sz="1200" b="1" baseline="-25000">
                <a:solidFill>
                  <a:schemeClr val="dk1"/>
                </a:solidFill>
              </a:rPr>
              <a:t>y</a:t>
            </a:r>
            <a:r>
              <a:rPr lang="en-GB" sz="1200" b="1">
                <a:solidFill>
                  <a:schemeClr val="dk1"/>
                </a:solidFill>
              </a:rPr>
              <a:t>, η</a:t>
            </a:r>
            <a:r>
              <a:rPr lang="en-GB" sz="1200" b="1" baseline="-25000">
                <a:solidFill>
                  <a:schemeClr val="dk1"/>
                </a:solidFill>
              </a:rPr>
              <a:t>𝜃</a:t>
            </a:r>
            <a:r>
              <a:rPr lang="en-GB" sz="1200"/>
              <a:t> </a:t>
            </a:r>
            <a:r>
              <a:rPr lang="en-GB" sz="1200" b="1"/>
              <a:t>= 2.6 → </a:t>
            </a:r>
            <a:r>
              <a:rPr lang="en-GB" sz="12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99.5% confidence that the actual error does not exceed the bound.</a:t>
            </a:r>
            <a:endParaRPr sz="1200" b="1"/>
          </a:p>
          <a:p>
            <a:pPr marL="4572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e</a:t>
            </a:r>
            <a:r>
              <a:rPr lang="en-GB" sz="1200" b="1" baseline="-25000"/>
              <a:t>y,max</a:t>
            </a:r>
            <a:r>
              <a:rPr lang="en-GB"/>
              <a:t>, </a:t>
            </a:r>
            <a:r>
              <a:rPr lang="en-GB" sz="1200" b="1">
                <a:solidFill>
                  <a:schemeClr val="dk1"/>
                </a:solidFill>
              </a:rPr>
              <a:t>e</a:t>
            </a:r>
            <a:r>
              <a:rPr lang="en-GB" sz="1200" b="1" baseline="-25000">
                <a:solidFill>
                  <a:schemeClr val="dk1"/>
                </a:solidFill>
              </a:rPr>
              <a:t>θ,max</a:t>
            </a:r>
            <a:r>
              <a:rPr lang="en-GB"/>
              <a:t> = </a:t>
            </a: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User‑defined safety bounds. </a:t>
            </a:r>
            <a:r>
              <a:rPr lang="en-GB" sz="1200" b="1">
                <a:solidFill>
                  <a:schemeClr val="dk1"/>
                </a:solidFill>
              </a:rPr>
              <a:t>For simulations, e</a:t>
            </a:r>
            <a:r>
              <a:rPr lang="en-GB" sz="1200" b="1" baseline="-25000">
                <a:solidFill>
                  <a:schemeClr val="dk1"/>
                </a:solidFill>
              </a:rPr>
              <a:t>y,max</a:t>
            </a:r>
            <a:r>
              <a:rPr lang="en-GB" sz="1200" b="1"/>
              <a:t> = 0.12 m, and </a:t>
            </a:r>
            <a:r>
              <a:rPr lang="en-GB" sz="1200" b="1">
                <a:solidFill>
                  <a:schemeClr val="dk1"/>
                </a:solidFill>
              </a:rPr>
              <a:t>e</a:t>
            </a:r>
            <a:r>
              <a:rPr lang="en-GB" sz="1200" b="1" baseline="-25000">
                <a:solidFill>
                  <a:schemeClr val="dk1"/>
                </a:solidFill>
              </a:rPr>
              <a:t>θ,max</a:t>
            </a:r>
            <a:r>
              <a:rPr lang="en-GB" sz="1200" b="1"/>
              <a:t> = 0.08 rad (4.6</a:t>
            </a:r>
            <a:r>
              <a:rPr lang="en-GB" sz="1200" b="1" baseline="30000"/>
              <a:t>o</a:t>
            </a:r>
            <a:r>
              <a:rPr lang="en-GB"/>
              <a:t> </a:t>
            </a:r>
            <a:r>
              <a:rPr lang="en-GB" sz="1200" b="1"/>
              <a:t>Approx).</a:t>
            </a:r>
            <a:endParaRPr sz="1200" b="1" baseline="-25000"/>
          </a:p>
        </p:txBody>
      </p:sp>
      <p:pic>
        <p:nvPicPr>
          <p:cNvPr id="433" name="Google Shape;433;p50" descr="{&quot;backgroundColorModified&quot;:false,&quot;id&quot;:&quot;8&quot;,&quot;type&quot;:&quot;gather*&quot;,&quot;aid&quot;:null,&quot;code&quot;:&quot;\\begin{gather*}\n{\\left|\\mu_{y,k}\\right|\\,+\\,\\eta_{y}{\\sqrt[]{P_{yy.i}}}\\,\\leq\\,e_{y,\\max}}\\\\\n{\\left|\\mu_{\\theta,k}\\right|\\,+\\,\\eta_{\\theta}{\\sqrt[]{P_{\\theta\\theta.i}}}\\,\\leq\\,e_{\\theta,\\max}}\t\n\\end{gather*}&quot;,&quot;backgroundColor&quot;:&quot;#FFFFFF&quot;,&quot;font&quot;:{&quot;family&quot;:&quot;Arial&quot;,&quot;color&quot;:&quot;#000000&quot;,&quot;size&quot;:12},&quot;ts&quot;:1779673979841,&quot;cs&quot;:&quot;PkZTwYrLDCGPPEr7thQwsQ==&quot;,&quot;size&quot;:{&quot;width&quot;:214.33333333333334,&quot;height&quot;:64.5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4900" y="2225576"/>
            <a:ext cx="2041525" cy="614363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0"/>
          <p:cNvSpPr txBox="1"/>
          <p:nvPr/>
        </p:nvSpPr>
        <p:spPr>
          <a:xfrm>
            <a:off x="6061683" y="2199052"/>
            <a:ext cx="12549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(18)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5" name="Google Shape;435;p50"/>
          <p:cNvSpPr txBox="1"/>
          <p:nvPr/>
        </p:nvSpPr>
        <p:spPr>
          <a:xfrm>
            <a:off x="6061683" y="2508252"/>
            <a:ext cx="12549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(19)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6" name="Google Shape;436;p50"/>
          <p:cNvSpPr txBox="1"/>
          <p:nvPr/>
        </p:nvSpPr>
        <p:spPr>
          <a:xfrm>
            <a:off x="6529875" y="2149275"/>
            <a:ext cx="2502000" cy="12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Source: Zheng, W., &amp; Zhu, B. (2021). Stochastic time-varying model predictive control for trajectory tracking of a wheeled mobile robot. </a:t>
            </a:r>
            <a:r>
              <a:rPr lang="en-GB" sz="1000" b="1" i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Frontiers in Energy Research</a:t>
            </a:r>
            <a:r>
              <a:rPr lang="en-GB" sz="10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9, 767597. </a:t>
            </a:r>
            <a:r>
              <a:rPr lang="en-GB" sz="1000" b="1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 10.3389/fenrg.2021.767597</a:t>
            </a:r>
            <a:endParaRPr sz="1000" b="1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1"/>
          <p:cNvSpPr txBox="1">
            <a:spLocks noGrp="1"/>
          </p:cNvSpPr>
          <p:nvPr>
            <p:ph type="title"/>
          </p:nvPr>
        </p:nvSpPr>
        <p:spPr>
          <a:xfrm>
            <a:off x="311700" y="446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51"/>
          <p:cNvSpPr txBox="1">
            <a:spLocks noGrp="1"/>
          </p:cNvSpPr>
          <p:nvPr>
            <p:ph type="body" idx="1"/>
          </p:nvPr>
        </p:nvSpPr>
        <p:spPr>
          <a:xfrm>
            <a:off x="311700" y="11542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3" name="Google Shape;443;p51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16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1"/>
          <p:cNvSpPr txBox="1"/>
          <p:nvPr/>
        </p:nvSpPr>
        <p:spPr>
          <a:xfrm>
            <a:off x="303525" y="553555"/>
            <a:ext cx="79080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</a:rPr>
              <a:t>2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800" b="1">
                <a:solidFill>
                  <a:srgbClr val="FF0000"/>
                </a:solidFill>
              </a:rPr>
              <a:t>9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SNMPC‑RPP Controller: Hard-Box Constraint</a:t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46" name="Google Shape;446;p51"/>
          <p:cNvSpPr txBox="1"/>
          <p:nvPr/>
        </p:nvSpPr>
        <p:spPr>
          <a:xfrm>
            <a:off x="361675" y="953176"/>
            <a:ext cx="8520600" cy="12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addition to chance constraints, the lookahead is bounded by: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Simulation, </a:t>
            </a:r>
            <a:r>
              <a:rPr lang="en-GB" sz="1200" b="1" i="1">
                <a:solidFill>
                  <a:schemeClr val="dk1"/>
                </a:solidFill>
              </a:rPr>
              <a:t>L</a:t>
            </a:r>
            <a:r>
              <a:rPr lang="en-GB" sz="1200" b="1" i="1" baseline="-25000">
                <a:solidFill>
                  <a:schemeClr val="dk1"/>
                </a:solidFill>
              </a:rPr>
              <a:t>min</a:t>
            </a:r>
            <a:r>
              <a:rPr lang="en-GB" sz="1200" b="1" i="1">
                <a:solidFill>
                  <a:schemeClr val="dk1"/>
                </a:solidFill>
              </a:rPr>
              <a:t>​= 0.4 m, L</a:t>
            </a:r>
            <a:r>
              <a:rPr lang="en-GB" sz="1200" b="1" i="1" baseline="-25000">
                <a:solidFill>
                  <a:schemeClr val="dk1"/>
                </a:solidFill>
              </a:rPr>
              <a:t>max </a:t>
            </a:r>
            <a:r>
              <a:rPr lang="en-GB" sz="1200" b="1" i="1">
                <a:solidFill>
                  <a:schemeClr val="dk1"/>
                </a:solidFill>
              </a:rPr>
              <a:t>​= 0.8 m</a:t>
            </a:r>
            <a:endParaRPr sz="1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7" name="Google Shape;447;p51" descr="{&quot;font&quot;:{&quot;color&quot;:&quot;#0F1115&quot;,&quot;size&quot;:12,&quot;family&quot;:&quot;Arial&quot;},&quot;aid&quot;:null,&quot;type&quot;:&quot;$$&quot;,&quot;id&quot;:&quot;9&quot;,&quot;backgroundColor&quot;:&quot;#FFFFFF&quot;,&quot;code&quot;:&quot;$$L_{\\min}\\,\\leq\\,L_{k}\\,\\leq\\,L_{\\max}\\,\\,\\,\\,\\,\\,\\text{for}\\;k\\,=\\,\\left[0,1,2,3,...,N-1\\right]$$&quot;,&quot;backgroundColorModified&quot;:false,&quot;ts&quot;:1779677836400,&quot;cs&quot;:&quot;ySjzrosQDsQ5PT0rEiZzTg==&quot;,&quot;size&quot;:{&quot;width&quot;:408,&quot;height&quot;:19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3675" y="1620150"/>
            <a:ext cx="38862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1"/>
          <p:cNvSpPr txBox="1"/>
          <p:nvPr/>
        </p:nvSpPr>
        <p:spPr>
          <a:xfrm>
            <a:off x="361675" y="2247680"/>
            <a:ext cx="79080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</a:rPr>
              <a:t>2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800" b="1">
                <a:solidFill>
                  <a:srgbClr val="FF0000"/>
                </a:solidFill>
              </a:rPr>
              <a:t>10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SNMPC‑RPP Controller: Final Optimization Equation </a:t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grpSp>
        <p:nvGrpSpPr>
          <p:cNvPr id="449" name="Google Shape;449;p51"/>
          <p:cNvGrpSpPr/>
          <p:nvPr/>
        </p:nvGrpSpPr>
        <p:grpSpPr>
          <a:xfrm>
            <a:off x="2110625" y="2859536"/>
            <a:ext cx="4410075" cy="1580657"/>
            <a:chOff x="2521738" y="2859536"/>
            <a:chExt cx="4410075" cy="1580657"/>
          </a:xfrm>
        </p:grpSpPr>
        <p:pic>
          <p:nvPicPr>
            <p:cNvPr id="450" name="Google Shape;450;p51" descr="{&quot;code&quot;:&quot;\\begin{lalign*}\n&amp;{min\\;J\\text{(}L\\text{)}}\\\\\n&amp;{L}\\\\\n&amp;{}\\\\\n&amp;{S.T.\\,\\,\\,\\,L_{\\min}\\,\\leq\\,L_{k}\\,\\leq\\,L_{\\max}\\,\\,\\,\\,\\,\\,\\text{for}\\;k\\,=\\,\\left[0,1,2,3,...,N-1\\right]}\t\n\\end{lalign*}&quot;,&quot;type&quot;:&quot;lalign*&quot;,&quot;backgroundColor&quot;:&quot;#FFFFFF&quot;,&quot;aid&quot;:null,&quot;id&quot;:&quot;10&quot;,&quot;backgroundColorModified&quot;:false,&quot;font&quot;:{&quot;family&quot;:&quot;Arial&quot;,&quot;size&quot;:12,&quot;color&quot;:&quot;#000000&quot;},&quot;ts&quot;:1779683702393,&quot;cs&quot;:&quot;ep5WKq3Y8npIb8qVYKEpGA==&quot;,&quot;size&quot;:{&quot;width&quot;:463,&quot;height&quot;:92}}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21738" y="2859536"/>
              <a:ext cx="4410075" cy="876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Google Shape;451;p51" descr="{&quot;code&quot;:&quot;\\begin{gather*}\n{\\left|\\mu_{y,k}\\right|\\,+\\,\\eta_{y}{\\sqrt[]{P_{yy.i}}}\\,\\leq\\,e_{y,\\max}\\,\\,\\,\\,\\,for\\,\\,k\\,=\\,1\\,,....\\,,N}\\\\\n{\\left|\\mu_{\\theta,k}\\right|\\,+\\,\\eta_{\\theta}{\\sqrt[]{P_{\\theta\\theta.i}}}\\,\\leq\\,e_{\\theta,\\max}\\,\\,\\,\\,for\\,\\,k\\,=\\,1\\,,....\\,,N}\t\n\\end{gather*}&quot;,&quot;backgroundColorModified&quot;:false,&quot;backgroundColor&quot;:&quot;#FFFFFF&quot;,&quot;aid&quot;:null,&quot;font&quot;:{&quot;color&quot;:&quot;#000000&quot;,&quot;family&quot;:&quot;Arial&quot;,&quot;size&quot;:12},&quot;type&quot;:&quot;gather*&quot;,&quot;id&quot;:&quot;8&quot;,&quot;ts&quot;:1779684103877,&quot;cs&quot;:&quot;8euPzdPVY8WoGvZ3HxhGEg==&quot;,&quot;size&quot;:{&quot;width&quot;:389,&quot;height&quot;:64.66666666666667}}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61700" y="3824243"/>
              <a:ext cx="3705225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2" name="Google Shape;452;p51"/>
          <p:cNvSpPr txBox="1"/>
          <p:nvPr/>
        </p:nvSpPr>
        <p:spPr>
          <a:xfrm>
            <a:off x="7218358" y="1474402"/>
            <a:ext cx="12549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(20)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53" name="Google Shape;453;p51"/>
          <p:cNvSpPr txBox="1"/>
          <p:nvPr/>
        </p:nvSpPr>
        <p:spPr>
          <a:xfrm>
            <a:off x="7218358" y="3565802"/>
            <a:ext cx="12549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(21)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2"/>
          <p:cNvSpPr txBox="1">
            <a:spLocks noGrp="1"/>
          </p:cNvSpPr>
          <p:nvPr>
            <p:ph type="title"/>
          </p:nvPr>
        </p:nvSpPr>
        <p:spPr>
          <a:xfrm>
            <a:off x="311700" y="446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52"/>
          <p:cNvSpPr txBox="1">
            <a:spLocks noGrp="1"/>
          </p:cNvSpPr>
          <p:nvPr>
            <p:ph type="body" idx="1"/>
          </p:nvPr>
        </p:nvSpPr>
        <p:spPr>
          <a:xfrm>
            <a:off x="311700" y="11542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0" name="Google Shape;460;p52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16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52"/>
          <p:cNvSpPr txBox="1"/>
          <p:nvPr/>
        </p:nvSpPr>
        <p:spPr>
          <a:xfrm>
            <a:off x="303525" y="553555"/>
            <a:ext cx="79080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</a:rPr>
              <a:t>2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800" b="1">
                <a:solidFill>
                  <a:srgbClr val="FF0000"/>
                </a:solidFill>
              </a:rPr>
              <a:t>11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SNMPC‑RPP Controller: Solving the Optimization Problem</a:t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63" name="Google Shape;463;p52"/>
          <p:cNvSpPr txBox="1"/>
          <p:nvPr/>
        </p:nvSpPr>
        <p:spPr>
          <a:xfrm>
            <a:off x="361650" y="1019500"/>
            <a:ext cx="8420700" cy="3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optimisation problem (cost function + chance constraints + box constraints) is solved at each control cycle (5 Hz) using a derivative‑free method called </a:t>
            </a:r>
            <a:r>
              <a:rPr lang="en-GB" sz="15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Constrained Optimisation BY Linear Approximation (COBYLA)</a:t>
            </a:r>
            <a:endParaRPr sz="1500"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-GB" sz="15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Library:</a:t>
            </a: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NLopt (open‑source, C++/C)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simplicity, we have kept the </a:t>
            </a:r>
            <a:r>
              <a:rPr lang="en-GB" sz="15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control horizon = prediction horizon = 3 time steps of 0.1s each</a:t>
            </a: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Hence, sample Lookahead sequence = </a:t>
            </a:r>
            <a:r>
              <a:rPr lang="en-GB" sz="1500" b="1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Consolas"/>
                <a:cs typeface="Consolas"/>
                <a:sym typeface="Consolas"/>
              </a:rPr>
              <a:t>L₀, L₁, L₂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-GB" sz="15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First control cycle</a:t>
            </a: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Initial guess = </a:t>
            </a:r>
            <a:r>
              <a:rPr lang="en-GB" sz="150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Consolas"/>
                <a:cs typeface="Consolas"/>
                <a:sym typeface="Consolas"/>
              </a:rPr>
              <a:t>[(L_min+L_max)/2, (L_min+L_max)/2, (L_min+L_max)/2]</a:t>
            </a: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-GB" sz="150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Consolas"/>
                <a:cs typeface="Consolas"/>
                <a:sym typeface="Consolas"/>
              </a:rPr>
              <a:t>[0.6, 0.6, 0.6] m</a:t>
            </a:r>
            <a:endParaRPr sz="1500">
              <a:solidFill>
                <a:srgbClr val="0F1115"/>
              </a:solidFill>
              <a:highlight>
                <a:srgbClr val="EBEEF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2385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-GB" sz="15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Subsequent cycles</a:t>
            </a: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Shift previous optimal solution forward by one step (towards left), repeating the last value: </a:t>
            </a:r>
            <a:r>
              <a:rPr lang="en-GB" sz="150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Consolas"/>
                <a:cs typeface="Consolas"/>
                <a:sym typeface="Consolas"/>
              </a:rPr>
              <a:t>[L₁*, L₂*, L₂*]</a:t>
            </a: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as the initial guess for the new problem.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-GB" sz="15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Benefit</a:t>
            </a: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Reduces number of function evaluations.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53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3"/>
          <p:cNvSpPr txBox="1"/>
          <p:nvPr/>
        </p:nvSpPr>
        <p:spPr>
          <a:xfrm>
            <a:off x="1614146" y="9"/>
            <a:ext cx="5915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 i="0" u="none" strike="noStrike" cap="none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Discussions</a:t>
            </a:r>
            <a:endParaRPr sz="2700" b="1" i="0" u="none" strike="noStrike" cap="none" dirty="0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53"/>
          <p:cNvSpPr/>
          <p:nvPr/>
        </p:nvSpPr>
        <p:spPr>
          <a:xfrm>
            <a:off x="0" y="4353300"/>
            <a:ext cx="9144000" cy="79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1" name="Google Shape;47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50" y="1395250"/>
            <a:ext cx="4457825" cy="2281142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3"/>
          <p:cNvSpPr txBox="1"/>
          <p:nvPr/>
        </p:nvSpPr>
        <p:spPr>
          <a:xfrm>
            <a:off x="311750" y="3724325"/>
            <a:ext cx="4260300" cy="7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lang="en-GB" sz="900" b="1" i="1">
                <a:solidFill>
                  <a:schemeClr val="dk1"/>
                </a:solidFill>
              </a:rPr>
              <a:t>8</a:t>
            </a: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en-GB" sz="900" b="1" i="1">
                <a:solidFill>
                  <a:schemeClr val="dk1"/>
                </a:solidFill>
              </a:rPr>
              <a:t>Mean trajectory overlays for RPP (solid blue) and SNMPC-RPP (dashed red) against the reference circuit (dashed grey) at desired speed v = 0.5m/s.</a:t>
            </a:r>
            <a:endParaRPr sz="900" b="1" i="1">
              <a:solidFill>
                <a:schemeClr val="dk1"/>
              </a:solidFill>
            </a:endParaRPr>
          </a:p>
        </p:txBody>
      </p:sp>
      <p:sp>
        <p:nvSpPr>
          <p:cNvPr id="473" name="Google Shape;473;p53"/>
          <p:cNvSpPr txBox="1"/>
          <p:nvPr/>
        </p:nvSpPr>
        <p:spPr>
          <a:xfrm>
            <a:off x="311750" y="707550"/>
            <a:ext cx="64479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Case 1 : Desired Linear Speed = 0.5m/s (Anti-Clockwise)</a:t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pic>
        <p:nvPicPr>
          <p:cNvPr id="474" name="Google Shape;474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9575" y="1284000"/>
            <a:ext cx="4374426" cy="244032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53"/>
          <p:cNvSpPr txBox="1"/>
          <p:nvPr/>
        </p:nvSpPr>
        <p:spPr>
          <a:xfrm>
            <a:off x="5061300" y="3724324"/>
            <a:ext cx="4082700" cy="7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lang="en-GB" sz="900" b="1" i="1">
                <a:solidFill>
                  <a:schemeClr val="dk1"/>
                </a:solidFill>
              </a:rPr>
              <a:t>9</a:t>
            </a: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900" b="1" i="1">
                <a:solidFill>
                  <a:schemeClr val="dk1"/>
                </a:solidFill>
              </a:rPr>
              <a:t>Cross-track error along the reference arc (mean ± 1σ across 5 runs per controller; SNMPC-RPP in red, RPP in blue) at desired speed v = 0.5m/s.</a:t>
            </a:r>
            <a:endParaRPr sz="900"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4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4"/>
          <p:cNvSpPr/>
          <p:nvPr/>
        </p:nvSpPr>
        <p:spPr>
          <a:xfrm>
            <a:off x="358775" y="4353175"/>
            <a:ext cx="8785200" cy="79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54"/>
          <p:cNvSpPr txBox="1"/>
          <p:nvPr/>
        </p:nvSpPr>
        <p:spPr>
          <a:xfrm>
            <a:off x="311750" y="3856100"/>
            <a:ext cx="4302000" cy="7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lang="en-GB" sz="900" b="1" i="1">
                <a:solidFill>
                  <a:schemeClr val="dk1"/>
                </a:solidFill>
              </a:rPr>
              <a:t>10</a:t>
            </a: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900" b="1" i="1">
                <a:solidFill>
                  <a:schemeClr val="dk1"/>
                </a:solidFill>
              </a:rPr>
              <a:t>Mean trajectory overlays for RPP (solid blue) and SNMPC-RPP (dashed red) against the reference circuit (dashed grey) at desired speed v = 1m/s.</a:t>
            </a:r>
            <a:endParaRPr sz="900" b="1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4"/>
          <p:cNvSpPr txBox="1"/>
          <p:nvPr/>
        </p:nvSpPr>
        <p:spPr>
          <a:xfrm>
            <a:off x="4840438" y="3856100"/>
            <a:ext cx="4213500" cy="7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lang="en-GB" sz="900" b="1" i="1">
                <a:solidFill>
                  <a:schemeClr val="dk1"/>
                </a:solidFill>
              </a:rPr>
              <a:t>11</a:t>
            </a: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900" b="1" i="1">
                <a:solidFill>
                  <a:schemeClr val="dk1"/>
                </a:solidFill>
              </a:rPr>
              <a:t>Cross-track error along the reference arc (mean ± 1σ across 5 runs per controller; SNMPC-RPP in red, RPP in blue) at desired speed v = 1m/s.</a:t>
            </a:r>
            <a:endParaRPr sz="900" b="1" i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1">
              <a:solidFill>
                <a:schemeClr val="dk1"/>
              </a:solidFill>
            </a:endParaRPr>
          </a:p>
        </p:txBody>
      </p:sp>
      <p:pic>
        <p:nvPicPr>
          <p:cNvPr id="485" name="Google Shape;48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50" y="1432563"/>
            <a:ext cx="4452429" cy="2278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1005" y="1478775"/>
            <a:ext cx="4272384" cy="22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54"/>
          <p:cNvSpPr txBox="1"/>
          <p:nvPr/>
        </p:nvSpPr>
        <p:spPr>
          <a:xfrm>
            <a:off x="311750" y="707550"/>
            <a:ext cx="64479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Case 2 : Desired Linear Speed = 1m/s (Anti-Clockwise)</a:t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55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5"/>
          <p:cNvSpPr/>
          <p:nvPr/>
        </p:nvSpPr>
        <p:spPr>
          <a:xfrm>
            <a:off x="358775" y="4353175"/>
            <a:ext cx="8785200" cy="79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55"/>
          <p:cNvSpPr txBox="1"/>
          <p:nvPr/>
        </p:nvSpPr>
        <p:spPr>
          <a:xfrm>
            <a:off x="311750" y="3856100"/>
            <a:ext cx="4302000" cy="7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lang="en-GB" sz="900" b="1" i="1">
                <a:solidFill>
                  <a:schemeClr val="dk1"/>
                </a:solidFill>
              </a:rPr>
              <a:t>12</a:t>
            </a: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900" b="1" i="1">
                <a:solidFill>
                  <a:schemeClr val="dk1"/>
                </a:solidFill>
              </a:rPr>
              <a:t>Mean trajectory overlays for RPP (solid blue) and SNMPC-RPP (dashed red) against the reference circuit (dashed grey) at desired speed v = 1.5m/s.</a:t>
            </a:r>
            <a:endParaRPr sz="900" b="1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55"/>
          <p:cNvSpPr txBox="1"/>
          <p:nvPr/>
        </p:nvSpPr>
        <p:spPr>
          <a:xfrm>
            <a:off x="4840438" y="3856100"/>
            <a:ext cx="4213500" cy="7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lang="en-GB" sz="900" b="1" i="1">
                <a:solidFill>
                  <a:schemeClr val="dk1"/>
                </a:solidFill>
              </a:rPr>
              <a:t>13</a:t>
            </a:r>
            <a:r>
              <a:rPr lang="en-GB" sz="9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en-GB" sz="900" b="1" i="1">
                <a:solidFill>
                  <a:schemeClr val="dk1"/>
                </a:solidFill>
              </a:rPr>
              <a:t>Cross-track error along the reference arc (mean ± 1σ across 5 runs per controller; SNMPC-RPP in red, RPP in blue) at desired speed v = 1.5m/s.</a:t>
            </a:r>
            <a:endParaRPr sz="900" b="1" i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1">
              <a:solidFill>
                <a:schemeClr val="dk1"/>
              </a:solidFill>
            </a:endParaRPr>
          </a:p>
        </p:txBody>
      </p:sp>
      <p:sp>
        <p:nvSpPr>
          <p:cNvPr id="497" name="Google Shape;497;p55"/>
          <p:cNvSpPr txBox="1"/>
          <p:nvPr/>
        </p:nvSpPr>
        <p:spPr>
          <a:xfrm>
            <a:off x="311750" y="707550"/>
            <a:ext cx="64479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1800" b="1">
                <a:solidFill>
                  <a:srgbClr val="FF0000"/>
                </a:solidFill>
                <a:highlight>
                  <a:srgbClr val="FFFFFF"/>
                </a:highlight>
              </a:rPr>
              <a:t>Case 3 : Desired Linear Speed = 1.5m/s (Anti-Clockwise)</a:t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pic>
        <p:nvPicPr>
          <p:cNvPr id="498" name="Google Shape;49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0987" y="1455675"/>
            <a:ext cx="4272425" cy="223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50" y="1455675"/>
            <a:ext cx="4528701" cy="234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56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6"/>
          <p:cNvSpPr/>
          <p:nvPr/>
        </p:nvSpPr>
        <p:spPr>
          <a:xfrm>
            <a:off x="358775" y="4353175"/>
            <a:ext cx="8785200" cy="79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8" name="Google Shape;50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775" y="568762"/>
            <a:ext cx="2774205" cy="1410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6"/>
          <p:cNvSpPr txBox="1"/>
          <p:nvPr/>
        </p:nvSpPr>
        <p:spPr>
          <a:xfrm>
            <a:off x="1558575" y="1986153"/>
            <a:ext cx="2952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</a:rPr>
              <a:t>a)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510" name="Google Shape;510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7174" y="520615"/>
            <a:ext cx="2848399" cy="1447849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56"/>
          <p:cNvSpPr txBox="1"/>
          <p:nvPr/>
        </p:nvSpPr>
        <p:spPr>
          <a:xfrm>
            <a:off x="4558163" y="1939748"/>
            <a:ext cx="2952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</a:rPr>
              <a:t>b)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512" name="Google Shape;512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7424" y="568762"/>
            <a:ext cx="2848399" cy="1447844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56"/>
          <p:cNvSpPr txBox="1"/>
          <p:nvPr/>
        </p:nvSpPr>
        <p:spPr>
          <a:xfrm>
            <a:off x="7434035" y="1954974"/>
            <a:ext cx="2952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</a:rPr>
              <a:t>c)</a:t>
            </a:r>
            <a:endParaRPr sz="900">
              <a:solidFill>
                <a:schemeClr val="dk1"/>
              </a:solidFill>
            </a:endParaRPr>
          </a:p>
        </p:txBody>
      </p:sp>
      <p:grpSp>
        <p:nvGrpSpPr>
          <p:cNvPr id="514" name="Google Shape;514;p56"/>
          <p:cNvGrpSpPr/>
          <p:nvPr/>
        </p:nvGrpSpPr>
        <p:grpSpPr>
          <a:xfrm>
            <a:off x="358775" y="3189043"/>
            <a:ext cx="8923422" cy="1926420"/>
            <a:chOff x="358775" y="3330575"/>
            <a:chExt cx="8923422" cy="1926420"/>
          </a:xfrm>
        </p:grpSpPr>
        <p:sp>
          <p:nvSpPr>
            <p:cNvPr id="515" name="Google Shape;515;p56"/>
            <p:cNvSpPr txBox="1"/>
            <p:nvPr/>
          </p:nvSpPr>
          <p:spPr>
            <a:xfrm>
              <a:off x="588197" y="4854995"/>
              <a:ext cx="8694000" cy="4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GB" sz="900" b="1" i="1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Figure </a:t>
              </a:r>
              <a:r>
                <a:rPr lang="en-GB" sz="900" b="1" i="1" dirty="0">
                  <a:solidFill>
                    <a:schemeClr val="dk1"/>
                  </a:solidFill>
                </a:rPr>
                <a:t>15</a:t>
              </a:r>
              <a:r>
                <a:rPr lang="en-GB" sz="900" b="1" i="1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lang="en-GB" sz="900" b="1" i="1" dirty="0">
                  <a:solidFill>
                    <a:schemeClr val="dk1"/>
                  </a:solidFill>
                </a:rPr>
                <a:t>Cross-track error along the reference arc (mean ± 1σ across 5 runs per controller; SNMPC-RPP in red, RPP in blue) at desired speeds  a) v = 0.5 m/s, b) = 1m/s and c) = 1.5 m/s – all while the robot traverses the rectangular circuit in clockwise direction.</a:t>
              </a:r>
              <a:endParaRPr sz="900" b="1" i="1" dirty="0">
                <a:solidFill>
                  <a:schemeClr val="dk1"/>
                </a:solidFill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1" i="1" dirty="0">
                <a:solidFill>
                  <a:schemeClr val="dk1"/>
                </a:solidFill>
              </a:endParaRPr>
            </a:p>
          </p:txBody>
        </p:sp>
        <p:pic>
          <p:nvPicPr>
            <p:cNvPr id="516" name="Google Shape;516;p5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58775" y="3330575"/>
              <a:ext cx="2848399" cy="14965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7" name="Google Shape;517;p5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318663" y="3348700"/>
              <a:ext cx="2774200" cy="146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5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234690" y="3348700"/>
              <a:ext cx="2771133" cy="1447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" name="Google Shape;519;p56"/>
            <p:cNvSpPr txBox="1"/>
            <p:nvPr/>
          </p:nvSpPr>
          <p:spPr>
            <a:xfrm>
              <a:off x="1410975" y="4726875"/>
              <a:ext cx="295200" cy="4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1"/>
                  </a:solidFill>
                </a:rPr>
                <a:t>a)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520" name="Google Shape;520;p56"/>
            <p:cNvSpPr txBox="1"/>
            <p:nvPr/>
          </p:nvSpPr>
          <p:spPr>
            <a:xfrm>
              <a:off x="4639997" y="4726878"/>
              <a:ext cx="295200" cy="4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1"/>
                  </a:solidFill>
                </a:rPr>
                <a:t>b)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521" name="Google Shape;521;p56"/>
            <p:cNvSpPr txBox="1"/>
            <p:nvPr/>
          </p:nvSpPr>
          <p:spPr>
            <a:xfrm>
              <a:off x="7434035" y="4726878"/>
              <a:ext cx="295200" cy="4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1"/>
                  </a:solidFill>
                </a:rPr>
                <a:t>c)</a:t>
              </a:r>
              <a:endParaRPr sz="90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507;p56"/>
          <p:cNvSpPr txBox="1"/>
          <p:nvPr/>
        </p:nvSpPr>
        <p:spPr>
          <a:xfrm>
            <a:off x="247313" y="2155922"/>
            <a:ext cx="86217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lang="en-GB" sz="900" b="1" i="1" dirty="0">
                <a:solidFill>
                  <a:schemeClr val="dk1"/>
                </a:solidFill>
              </a:rPr>
              <a:t>14</a:t>
            </a:r>
            <a:r>
              <a:rPr lang="en-GB" sz="900" b="1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en-GB" sz="900" b="1" i="1" dirty="0">
                <a:solidFill>
                  <a:schemeClr val="dk1"/>
                </a:solidFill>
              </a:rPr>
              <a:t>Mean trajectory overlays for RPP (solid blue) and SNMPC-RPP (dashed red) against the reference circuit (dashed grey) at desired speeds a) v = 0.5 m/s, b) = 1m/s and c) = 1.5 m/s – all while the robot traverses the rectangular circuit in clockwise direction.</a:t>
            </a:r>
            <a:endParaRPr sz="900" b="1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7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7"/>
          <p:cNvSpPr/>
          <p:nvPr/>
        </p:nvSpPr>
        <p:spPr>
          <a:xfrm>
            <a:off x="358775" y="4353175"/>
            <a:ext cx="8785200" cy="79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0" name="Google Shape;530;p57"/>
          <p:cNvGraphicFramePr/>
          <p:nvPr/>
        </p:nvGraphicFramePr>
        <p:xfrm>
          <a:off x="1524000" y="983000"/>
          <a:ext cx="6096000" cy="3735394"/>
        </p:xfrm>
        <a:graphic>
          <a:graphicData uri="http://schemas.openxmlformats.org/drawingml/2006/table">
            <a:tbl>
              <a:tblPr>
                <a:noFill/>
                <a:tableStyleId>{D3544993-8F4A-4CD8-812A-E4BC788E1617}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Condition</a:t>
                      </a:r>
                      <a:endParaRPr sz="1000"/>
                    </a:p>
                  </a:txBody>
                  <a:tcPr marL="63500" marR="63500" marT="63500" marB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Controller</a:t>
                      </a:r>
                      <a:endParaRPr sz="1000"/>
                    </a:p>
                  </a:txBody>
                  <a:tcPr marL="63500" marR="63500" marT="63500" marB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MAE (mm)</a:t>
                      </a:r>
                      <a:endParaRPr sz="1000"/>
                    </a:p>
                  </a:txBody>
                  <a:tcPr marL="63500" marR="63500" marT="63500" marB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RMSE (mm)</a:t>
                      </a:r>
                      <a:endParaRPr sz="1000"/>
                    </a:p>
                  </a:txBody>
                  <a:tcPr marL="63500" marR="63500" marT="63500" marB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Max Dev (mm)</a:t>
                      </a:r>
                      <a:endParaRPr sz="1000"/>
                    </a:p>
                  </a:txBody>
                  <a:tcPr marL="63500" marR="63500" marT="63500" marB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Duration (s)</a:t>
                      </a:r>
                      <a:endParaRPr sz="1000"/>
                    </a:p>
                  </a:txBody>
                  <a:tcPr marL="63500" marR="63500" marT="63500" marB="63500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0.5 m/s CW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RPP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7.5 ± 0.2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10.4 ± 0.3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48.4 ± 1.1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192.9 ± 3.3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SNMPC-RPP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8.5 ± 0.4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11.5 ± 0.4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46.8 ± 0.8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192.7 ± 1.2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0.5 m/s CCW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RPP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7.1 ± 0.0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9.9 ± 0.1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47.7 ± 1.0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196.3 ± 1.4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SNMPC-RPP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7.6 ± 0.4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10.8 ± 0.6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45.0 ± 2.1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193.0 ± 4.5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1.0 m/s CW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RPP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11.1 ± 0.7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14.3 ± 0.9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44.0 ± 4.5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120.1 ± 1.9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SNMPC-RPP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9.5 ± 0.6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11.7 ± 0.9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46.0 ± 1.6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121.1 ± 1.2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1.0 m/s CCW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RPP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10.6 ± 0.8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13.7 ± 1.3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43.9 ± 1.2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129.9 ± 7.6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SNMPC-RPP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8.7 ± 1.0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10.8 ± 0.6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42.8 ± 3.4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133.6 ± 4.4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1.5 m/s CW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RPP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17.6 ± 0.7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25.5 ± 1.8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73.3 ± 9.2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97.1 ± 0.8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SNMPC-RPP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10.2 ± 0.8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12.2 ± 0.9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44.3 ± 3.3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97.7 ± 1.4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1.5 m/s CCW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RPP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17.9 ± 1.5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26.9 ± 2.9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75.7 ± 10.4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100.0 ± 0.8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SNMPC-RPP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9.9 ± 0.5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11.9 ± 0.7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44.6 ± 1.7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96.9 ± 4.0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31" name="Google Shape;531;p57"/>
          <p:cNvSpPr txBox="1"/>
          <p:nvPr/>
        </p:nvSpPr>
        <p:spPr>
          <a:xfrm>
            <a:off x="304075" y="612200"/>
            <a:ext cx="86217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b="1" dirty="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Table 2: Cross-track error and mission duration: mean ± std across 5 runs per controller. Best MAE and RMSE per condition highlighted in bold.</a:t>
            </a:r>
            <a:endParaRPr sz="1000" b="1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58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8"/>
          <p:cNvSpPr txBox="1"/>
          <p:nvPr/>
        </p:nvSpPr>
        <p:spPr>
          <a:xfrm>
            <a:off x="680100" y="28439"/>
            <a:ext cx="77838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 i="0" u="none" strike="noStrike" cap="none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700" b="1" i="0" u="none" strike="noStrike" cap="none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p58"/>
          <p:cNvSpPr/>
          <p:nvPr/>
        </p:nvSpPr>
        <p:spPr>
          <a:xfrm>
            <a:off x="5306900" y="2448600"/>
            <a:ext cx="473700" cy="1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58"/>
          <p:cNvSpPr/>
          <p:nvPr/>
        </p:nvSpPr>
        <p:spPr>
          <a:xfrm>
            <a:off x="6986125" y="3089900"/>
            <a:ext cx="698400" cy="32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58"/>
          <p:cNvSpPr txBox="1"/>
          <p:nvPr/>
        </p:nvSpPr>
        <p:spPr>
          <a:xfrm>
            <a:off x="472450" y="868675"/>
            <a:ext cx="8328600" cy="3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Coulter, R. C. (1992). </a:t>
            </a:r>
            <a:r>
              <a:rPr lang="en-GB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the pure pursuit path tracking algorithm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(Technical Report CMU-RI-TR-92-01). Carnegie Mellon University, Robotics Institute.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Kong, L. (2017). Adaptive pure pursuit model for autonomous vehicle path tracking. </a:t>
            </a:r>
            <a:r>
              <a:rPr lang="en-GB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Science, 4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(3), 70–73.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lang="en-GB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Macenski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S., Singh, S., Martín, F., &amp; Ginés, J. (2023). </a:t>
            </a:r>
            <a:r>
              <a:rPr lang="en-GB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Regulated pure pursuit for robot path tracking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GB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GB" sz="1200" dirty="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2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https://arxiv.org/abs/2305.20026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Kim, S., Lee, J., Han, K., &amp; Choi, S. B. (2024). Vehicle path tracking control using pure pursuit with MPC-based look-ahead distance optimization. </a:t>
            </a:r>
            <a:r>
              <a:rPr lang="en-GB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Transactions on Vehicular Technology, 73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(1), 53–66.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Zheng, W., &amp; Zhu, B. (2021). </a:t>
            </a:r>
            <a:r>
              <a:rPr lang="en-GB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Stochastic time-varying model predictive control for trajectory tracking of a wheeled mobile robot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Frontiers in Energy Research, 9, 767597.</a:t>
            </a:r>
            <a:r>
              <a:rPr lang="en-GB" sz="1200" dirty="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2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https://doi.org/10.3389/fenrg.2021.767597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</a:t>
            </a:r>
            <a:r>
              <a:rPr lang="en-GB" sz="12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Mesbah, A., </a:t>
            </a:r>
            <a:r>
              <a:rPr lang="en-GB" sz="1200" dirty="0" err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Kolmanovsky</a:t>
            </a:r>
            <a:r>
              <a:rPr lang="en-GB" sz="12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I. V., &amp; Di </a:t>
            </a:r>
            <a:r>
              <a:rPr lang="en-GB" sz="1200" dirty="0" err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Cairano</a:t>
            </a:r>
            <a:r>
              <a:rPr lang="en-GB" sz="12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S. (2018). Stochastic model predictive control. In </a:t>
            </a:r>
            <a:r>
              <a:rPr lang="en-GB" sz="1200" i="1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Handbook of model predictive control</a:t>
            </a:r>
            <a:r>
              <a:rPr lang="en-GB" sz="12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(pp. 75-97). Cham: Springer International Publishing.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2B5DAE03-291A-8733-5058-851B24C2B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58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97E81603-8285-A588-927B-DD7F49F050F2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8">
            <a:extLst>
              <a:ext uri="{FF2B5EF4-FFF2-40B4-BE49-F238E27FC236}">
                <a16:creationId xmlns:a16="http://schemas.microsoft.com/office/drawing/2014/main" id="{F9A01E8F-915F-7F17-FCDA-B9A30E450F93}"/>
              </a:ext>
            </a:extLst>
          </p:cNvPr>
          <p:cNvSpPr txBox="1"/>
          <p:nvPr/>
        </p:nvSpPr>
        <p:spPr>
          <a:xfrm>
            <a:off x="680100" y="28439"/>
            <a:ext cx="77838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 i="0" u="none" strike="noStrike" cap="none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700" b="1" i="0" u="none" strike="noStrike" cap="none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p58">
            <a:extLst>
              <a:ext uri="{FF2B5EF4-FFF2-40B4-BE49-F238E27FC236}">
                <a16:creationId xmlns:a16="http://schemas.microsoft.com/office/drawing/2014/main" id="{365B1DD1-DDB9-C630-549B-23B2A29517E1}"/>
              </a:ext>
            </a:extLst>
          </p:cNvPr>
          <p:cNvSpPr/>
          <p:nvPr/>
        </p:nvSpPr>
        <p:spPr>
          <a:xfrm>
            <a:off x="5306900" y="2448600"/>
            <a:ext cx="473700" cy="1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58">
            <a:extLst>
              <a:ext uri="{FF2B5EF4-FFF2-40B4-BE49-F238E27FC236}">
                <a16:creationId xmlns:a16="http://schemas.microsoft.com/office/drawing/2014/main" id="{4D9785D9-0A50-ADD0-2B95-BD6F60F6D929}"/>
              </a:ext>
            </a:extLst>
          </p:cNvPr>
          <p:cNvSpPr/>
          <p:nvPr/>
        </p:nvSpPr>
        <p:spPr>
          <a:xfrm>
            <a:off x="6986125" y="3089900"/>
            <a:ext cx="698400" cy="32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58">
            <a:extLst>
              <a:ext uri="{FF2B5EF4-FFF2-40B4-BE49-F238E27FC236}">
                <a16:creationId xmlns:a16="http://schemas.microsoft.com/office/drawing/2014/main" id="{03CED18F-3811-FA3A-6F32-D9B39010C276}"/>
              </a:ext>
            </a:extLst>
          </p:cNvPr>
          <p:cNvSpPr txBox="1"/>
          <p:nvPr/>
        </p:nvSpPr>
        <p:spPr>
          <a:xfrm>
            <a:off x="472450" y="673469"/>
            <a:ext cx="8328600" cy="3590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X. Jiang, T. Kuroiwa, Y. Cao, L. Sun, H. Zhang, T. Kawaguchi, and S. Hashimoto, “Enhanced pure pursuit path tracking algorithm for mobile robots optimized by NSGA‑II with high‑precision GNSS navigation,” *Sensors*, vol. 25, no. 3, 2025. [Online]. Available: https://www.mdpi.com/1424-8220/25/3/745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S. Kim, J. Lee, K. Han, and S. B. Choi, “Vehicle path tracking control using pure pursuit with MPC‑based look‑ahead distance optimization,” *IEEE Transactions on Vehicular Technology*, vol. 73, no. 1, pp. 53–66, 2024.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K.‑H. Kim, H. Na, J. Ahn, S. Shin, and S. Hwang, “Modified pure pursuit algorithm robust to localization noise,” in *36th International Electric Vehicle Symposium and Exhibition (EVS36)*, 2023.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C.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Çiloğlu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E. Kutluay, “Performance improvement of pure pursuit algorithm via online slip estimation for off‑road tracked vehicle,” *Sensors*, vol. 25, no. 14, 2025. [Online]. Available: https://www.mdpi.com/1424-8220/25/14/4242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C.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Nantabut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“Unscented transform‑based pure pursuit path‑tracking algorithm under uncertainty,” in *Proceedings of the 21st International Conference on Informatics in Control, Automation and Robotics*. SCITEPRESS, 2024, pp. 182–189. [Online]. Available: http://dx.doi.org/10.5220/0012981400003822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I. S. Mohamed, J. Xu, G. S.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Sukhatme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L. Liu, “Towards efficient MPPI trajectory generation with unscented guidance: U‑MPPI control strategy,” 2024. [Online]. Available: https://arxiv.org/abs/2306.12369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83564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E04510FA-8F98-E41C-49A0-CFC6B98EC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58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A7E1BAA0-05B7-E315-D068-9340534C48B1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/>
          <a:stretch/>
        </p:blipFill>
        <p:spPr>
          <a:xfrm>
            <a:off x="0" y="-1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8">
            <a:extLst>
              <a:ext uri="{FF2B5EF4-FFF2-40B4-BE49-F238E27FC236}">
                <a16:creationId xmlns:a16="http://schemas.microsoft.com/office/drawing/2014/main" id="{C2B65431-570D-CE58-8858-39B0DF793507}"/>
              </a:ext>
            </a:extLst>
          </p:cNvPr>
          <p:cNvSpPr txBox="1"/>
          <p:nvPr/>
        </p:nvSpPr>
        <p:spPr>
          <a:xfrm>
            <a:off x="680100" y="28439"/>
            <a:ext cx="77838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700" b="1" i="0" u="none" strike="noStrike" cap="none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700" b="1" i="0" u="none" strike="noStrike" cap="none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p58">
            <a:extLst>
              <a:ext uri="{FF2B5EF4-FFF2-40B4-BE49-F238E27FC236}">
                <a16:creationId xmlns:a16="http://schemas.microsoft.com/office/drawing/2014/main" id="{5C28B186-74C8-0FE6-2B7D-3805B4C416EF}"/>
              </a:ext>
            </a:extLst>
          </p:cNvPr>
          <p:cNvSpPr/>
          <p:nvPr/>
        </p:nvSpPr>
        <p:spPr>
          <a:xfrm>
            <a:off x="5306900" y="2448600"/>
            <a:ext cx="473700" cy="1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58">
            <a:extLst>
              <a:ext uri="{FF2B5EF4-FFF2-40B4-BE49-F238E27FC236}">
                <a16:creationId xmlns:a16="http://schemas.microsoft.com/office/drawing/2014/main" id="{63BE12E3-3871-C5A3-3D1C-67B68165687C}"/>
              </a:ext>
            </a:extLst>
          </p:cNvPr>
          <p:cNvSpPr/>
          <p:nvPr/>
        </p:nvSpPr>
        <p:spPr>
          <a:xfrm>
            <a:off x="6986125" y="3089900"/>
            <a:ext cx="698400" cy="32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58">
            <a:extLst>
              <a:ext uri="{FF2B5EF4-FFF2-40B4-BE49-F238E27FC236}">
                <a16:creationId xmlns:a16="http://schemas.microsoft.com/office/drawing/2014/main" id="{9C636B63-7A43-E61F-B28D-8271E8ACB110}"/>
              </a:ext>
            </a:extLst>
          </p:cNvPr>
          <p:cNvSpPr txBox="1"/>
          <p:nvPr/>
        </p:nvSpPr>
        <p:spPr>
          <a:xfrm>
            <a:off x="472450" y="673469"/>
            <a:ext cx="8328600" cy="3590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O. Ezeji, M.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Ziegltrum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Turrisi, T. Belvedere, and V. Modugno, “BC‑MPPI: A probabilistic constraint layer for safe model‑predictive path‑integral control,” 2025. [Online]. Available: https://arxiv.org/abs/2510.00272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A. Trivedi, S. Prajapati, A.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Shrigaonkar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Zolotas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T.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Padir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“Data‑driven sampling based stochastic MPC for skid‑steer mobile robot navigation,” 2024. [Online]. Available: https://arxiv.org/abs/2411.03289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J. Tang, S. Wu, B. Lan, Y. Dong, Y. Jin, G. Tian, W.‑A. Zhang, and L. Shi, “GMPC: Geometric model predictive control for wheeled mobile robot trajectory tracking,” *IEEE Robotics and Automation Letters*, vol. 9, no. 5, pp. 4822–4829, 2024.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E.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Ghignone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Baumann, C. Hu, J. Wang, L. Xie, A. Carron, and M. Magno, “RLPP: A residual method for zero‑shot real‑world autonomous racing on scaled platforms,” 2025. [Online]. Available: https://arxiv.org/abs/2501.17311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S. Sulaiman and A. Sudheer, “Implementation of pure pursuit algorithm based controller for a mobile platform,” in *Proc. 3rd International Conference on Robotics, Automation and Non‑Destructive Evaluation (RANE 2022)*, Apr. 2022, pp. 144–151.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M. R. Hashim Al‑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Dahhan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A. Alsaadi, R. R. Al‑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Dahhan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A.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Aliesawi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“The art of navigation: Pure pursuit controller strategies for four‑wheeled mobile robots,” *Fusion: Practice &amp; Applications*, vol. 15, no. 2, 2024.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81500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4811</Words>
  <Application>Microsoft Office PowerPoint</Application>
  <PresentationFormat>On-screen Show (16:9)</PresentationFormat>
  <Paragraphs>412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Consolas</vt:lpstr>
      <vt:lpstr>Roboto</vt:lpstr>
      <vt:lpstr>Calibri</vt:lpstr>
      <vt:lpstr>Times New Roman</vt:lpstr>
      <vt:lpstr>Courier New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Pritam Kalita</cp:lastModifiedBy>
  <cp:revision>3</cp:revision>
  <dcterms:modified xsi:type="dcterms:W3CDTF">2026-06-02T05:42:39Z</dcterms:modified>
</cp:coreProperties>
</file>